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3D3EE"/>
          </a:solidFill>
          <a:ln>
            <a:solidFill>
              <a:srgbClr val="23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58200" y="868680"/>
            <a:ext cx="2743200" cy="2743200"/>
          </a:xfrm>
          <a:prstGeom prst="ellipse">
            <a:avLst/>
          </a:prstGeom>
          <a:solidFill>
            <a:srgbClr val="142B46"/>
          </a:solidFill>
          <a:ln>
            <a:solidFill>
              <a:srgbClr val="14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1554480"/>
            <a:ext cx="1417320" cy="1417320"/>
          </a:xfrm>
          <a:prstGeom prst="ellipse">
            <a:avLst/>
          </a:prstGeom>
          <a:solidFill>
            <a:srgbClr val="081126"/>
          </a:solidFill>
          <a:ln>
            <a:solidFill>
              <a:srgbClr val="23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28632" y="2039112"/>
            <a:ext cx="438912" cy="438912"/>
          </a:xfrm>
          <a:prstGeom prst="ellipse">
            <a:avLst/>
          </a:prstGeom>
          <a:solidFill>
            <a:srgbClr val="1DC4AA"/>
          </a:solidFill>
          <a:ln>
            <a:solidFill>
              <a:srgbClr val="1DC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502920"/>
            <a:ext cx="50292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DC4AA"/>
                </a:solidFill>
                <a:latin typeface="Aptos"/>
              </a:rPr>
              <a:t>AIORI-3 HACKATHON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097280"/>
            <a:ext cx="7315200" cy="20116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100" b="1" i="0">
                <a:solidFill>
                  <a:srgbClr val="EEF6FF"/>
                </a:solidFill>
                <a:latin typeface="Aptos Display"/>
              </a:rPr>
              <a:t>Minimal Two-Node</a:t>
            </a:r>
          </a:p>
          <a:p>
            <a:pPr algn="l">
              <a:spcAft>
                <a:spcPts val="400"/>
              </a:spcAft>
            </a:pPr>
            <a:r>
              <a:rPr sz="3100" b="1" i="0">
                <a:solidFill>
                  <a:srgbClr val="EEF6FF"/>
                </a:solidFill>
                <a:latin typeface="Aptos Display"/>
              </a:rPr>
              <a:t>Cloud Hypervisor</a:t>
            </a:r>
          </a:p>
          <a:p>
            <a:pPr algn="l">
              <a:spcAft>
                <a:spcPts val="400"/>
              </a:spcAft>
            </a:pPr>
            <a:r>
              <a:rPr sz="3100" b="1" i="0">
                <a:solidFill>
                  <a:srgbClr val="EEF6FF"/>
                </a:solidFill>
                <a:latin typeface="Aptos Display"/>
              </a:rPr>
              <a:t>VM Controller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3310128"/>
            <a:ext cx="694944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A6BBD3"/>
                </a:solidFill>
                <a:latin typeface="Aptos"/>
              </a:rPr>
              <a:t>A unified control plane for managing and monitoring virtual machines across two hypervisor nodes.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4279392"/>
            <a:ext cx="4892040" cy="438912"/>
          </a:xfrm>
          <a:prstGeom prst="roundRect">
            <a:avLst/>
          </a:prstGeom>
          <a:solidFill>
            <a:srgbClr val="101F3B"/>
          </a:solidFill>
          <a:ln>
            <a:solidFill>
              <a:srgbClr val="2D4D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4389120"/>
            <a:ext cx="45262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23D3EE"/>
                </a:solidFill>
                <a:latin typeface="Aptos"/>
              </a:rPr>
              <a:t>PROBLEM STATEMENT  •  PS-023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5010912"/>
            <a:ext cx="31089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DC4AA"/>
                </a:solidFill>
                <a:latin typeface="Aptos"/>
              </a:rPr>
              <a:t>TEAM DEBUG CREW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5376672"/>
            <a:ext cx="50292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EEF6FF"/>
                </a:solidFill>
                <a:latin typeface="Aptos"/>
              </a:rPr>
              <a:t>Sneha Singh  ·  Tannu Priya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5806440"/>
            <a:ext cx="384048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A6BBD3"/>
                </a:solidFill>
                <a:latin typeface="Aptos"/>
              </a:rPr>
              <a:t>Sharda University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6510528"/>
            <a:ext cx="98755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A6BBD3"/>
                </a:solidFill>
                <a:latin typeface="Aptos"/>
              </a:rPr>
              <a:t>PS-023  |  Minimal Two-Node Cloud Hypervisor VM Controller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61320" y="6510528"/>
            <a:ext cx="10058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 i="0">
                <a:solidFill>
                  <a:srgbClr val="23D3EE"/>
                </a:solidFill>
                <a:latin typeface="Aptos"/>
              </a:rPr>
              <a:t>01 /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832336" y="0"/>
            <a:ext cx="91440" cy="6858000"/>
          </a:xfrm>
          <a:prstGeom prst="rect">
            <a:avLst/>
          </a:prstGeom>
          <a:solidFill>
            <a:srgbClr val="142B46"/>
          </a:solidFill>
          <a:ln>
            <a:solidFill>
              <a:srgbClr val="14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77724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DC4AA"/>
                </a:solidFill>
                <a:latin typeface="Aptos"/>
              </a:rPr>
              <a:t>PS-023  • 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097280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EEF6FF"/>
                </a:solidFill>
                <a:latin typeface="Aptos Display"/>
              </a:rPr>
              <a:t>Problem Statement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16152"/>
            <a:ext cx="1051560" cy="41148"/>
          </a:xfrm>
          <a:prstGeom prst="rect">
            <a:avLst/>
          </a:prstGeom>
          <a:solidFill>
            <a:srgbClr val="23D3EE"/>
          </a:solidFill>
          <a:ln>
            <a:solidFill>
              <a:srgbClr val="23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61320" y="301752"/>
            <a:ext cx="1005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A6BBD3"/>
                </a:solidFill>
                <a:latin typeface="Aptos"/>
              </a:rPr>
              <a:t>02 / 11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473952"/>
            <a:ext cx="11045952" cy="10972"/>
          </a:xfrm>
          <a:prstGeom prst="rect">
            <a:avLst/>
          </a:prstGeom>
          <a:solidFill>
            <a:srgbClr val="2D4D6C"/>
          </a:solidFill>
          <a:ln>
            <a:solidFill>
              <a:srgbClr val="2D4D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" y="6519672"/>
            <a:ext cx="98755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A6BBD3"/>
                </a:solidFill>
                <a:latin typeface="Aptos"/>
              </a:rPr>
              <a:t>PS-023  |  Minimal Two-Node Cloud Hypervisor VM Controller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78440" y="6519672"/>
            <a:ext cx="120700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1" i="0">
                <a:solidFill>
                  <a:srgbClr val="23D3EE"/>
                </a:solidFill>
                <a:latin typeface="Aptos"/>
              </a:rPr>
              <a:t>AIORI-3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481328"/>
            <a:ext cx="1051560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EEF6FF"/>
                </a:solidFill>
                <a:latin typeface="Aptos"/>
              </a:rPr>
              <a:t>Managing VMs across multiple hypervisor nodes can require separate tools and manual coordination.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359152"/>
            <a:ext cx="5166360" cy="1097280"/>
          </a:xfrm>
          <a:prstGeom prst="roundRect">
            <a:avLst/>
          </a:prstGeom>
          <a:solidFill>
            <a:srgbClr val="101F3B"/>
          </a:solidFill>
          <a:ln>
            <a:solidFill>
              <a:srgbClr val="2D4D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2542032"/>
            <a:ext cx="566928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23D3EE"/>
                </a:solidFill>
                <a:latin typeface="Apto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27048" y="2523744"/>
            <a:ext cx="3931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EEF6FF"/>
                </a:solidFill>
                <a:latin typeface="Aptos"/>
              </a:rPr>
              <a:t>Limited visibility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7048" y="2862072"/>
            <a:ext cx="3931920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A6BBD3"/>
                </a:solidFill>
                <a:latin typeface="Aptos"/>
              </a:rPr>
              <a:t>Node health is not always visible in one place.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0488" y="2359152"/>
            <a:ext cx="5166360" cy="1097280"/>
          </a:xfrm>
          <a:prstGeom prst="roundRect">
            <a:avLst/>
          </a:prstGeom>
          <a:solidFill>
            <a:srgbClr val="101F3B"/>
          </a:solidFill>
          <a:ln>
            <a:solidFill>
              <a:srgbClr val="2D4D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91655" y="2542032"/>
            <a:ext cx="566928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23D3EE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59168" y="2523744"/>
            <a:ext cx="3931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EEF6FF"/>
                </a:solidFill>
                <a:latin typeface="Aptos"/>
              </a:rPr>
              <a:t>Resource comparison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59168" y="2862072"/>
            <a:ext cx="3931920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A6BBD3"/>
                </a:solidFill>
                <a:latin typeface="Aptos"/>
              </a:rPr>
              <a:t>CPU and memory availability can be difficult to compare.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776472"/>
            <a:ext cx="5166360" cy="1097280"/>
          </a:xfrm>
          <a:prstGeom prst="roundRect">
            <a:avLst/>
          </a:prstGeom>
          <a:solidFill>
            <a:srgbClr val="101F3B"/>
          </a:solidFill>
          <a:ln>
            <a:solidFill>
              <a:srgbClr val="2D4D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" y="3959352"/>
            <a:ext cx="566928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23D3EE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7048" y="3941063"/>
            <a:ext cx="3931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EEF6FF"/>
                </a:solidFill>
                <a:latin typeface="Aptos"/>
              </a:rPr>
              <a:t>Manual placement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7048" y="4279392"/>
            <a:ext cx="3931920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A6BBD3"/>
                </a:solidFill>
                <a:latin typeface="Aptos"/>
              </a:rPr>
              <a:t>Operators may need to decide manually where a VM should run.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90488" y="3776472"/>
            <a:ext cx="5166360" cy="1097280"/>
          </a:xfrm>
          <a:prstGeom prst="roundRect">
            <a:avLst/>
          </a:prstGeom>
          <a:solidFill>
            <a:srgbClr val="101F3B"/>
          </a:solidFill>
          <a:ln>
            <a:solidFill>
              <a:srgbClr val="2D4D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91655" y="3959352"/>
            <a:ext cx="566928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23D3EE"/>
                </a:solidFill>
                <a:latin typeface="Apto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59168" y="3941063"/>
            <a:ext cx="3931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EEF6FF"/>
                </a:solidFill>
                <a:latin typeface="Aptos"/>
              </a:rPr>
              <a:t>Operation status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59168" y="4279392"/>
            <a:ext cx="3931920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A6BBD3"/>
                </a:solidFill>
                <a:latin typeface="Aptos"/>
              </a:rPr>
              <a:t>Results and failures can be hard to track consistently.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5422392"/>
            <a:ext cx="10698480" cy="658368"/>
          </a:xfrm>
          <a:prstGeom prst="roundRect">
            <a:avLst/>
          </a:prstGeom>
          <a:solidFill>
            <a:srgbClr val="142B46"/>
          </a:solidFill>
          <a:ln>
            <a:solidFill>
              <a:srgbClr val="1DC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5596128"/>
            <a:ext cx="77724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DC4AA"/>
                </a:solidFill>
                <a:latin typeface="Aptos"/>
              </a:rPr>
              <a:t>GOAL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45920" y="5559552"/>
            <a:ext cx="932688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EEF6FF"/>
                </a:solidFill>
                <a:latin typeface="Aptos"/>
              </a:rPr>
              <a:t>A lightweight controller with a unified view of two hypervisor nodes and simpler VM management.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832336" y="0"/>
            <a:ext cx="91440" cy="6858000"/>
          </a:xfrm>
          <a:prstGeom prst="rect">
            <a:avLst/>
          </a:prstGeom>
          <a:solidFill>
            <a:srgbClr val="142B46"/>
          </a:solidFill>
          <a:ln>
            <a:solidFill>
              <a:srgbClr val="14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77724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DC4AA"/>
                </a:solidFill>
                <a:latin typeface="Aptos"/>
              </a:rPr>
              <a:t>PS-023  • 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097280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EEF6FF"/>
                </a:solidFill>
                <a:latin typeface="Aptos Display"/>
              </a:rPr>
              <a:t>Proposed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16152"/>
            <a:ext cx="1051560" cy="41148"/>
          </a:xfrm>
          <a:prstGeom prst="rect">
            <a:avLst/>
          </a:prstGeom>
          <a:solidFill>
            <a:srgbClr val="23D3EE"/>
          </a:solidFill>
          <a:ln>
            <a:solidFill>
              <a:srgbClr val="23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61320" y="301752"/>
            <a:ext cx="1005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A6BBD3"/>
                </a:solidFill>
                <a:latin typeface="Aptos"/>
              </a:rPr>
              <a:t>03 / 11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473952"/>
            <a:ext cx="11045952" cy="10972"/>
          </a:xfrm>
          <a:prstGeom prst="rect">
            <a:avLst/>
          </a:prstGeom>
          <a:solidFill>
            <a:srgbClr val="2D4D6C"/>
          </a:solidFill>
          <a:ln>
            <a:solidFill>
              <a:srgbClr val="2D4D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" y="6519672"/>
            <a:ext cx="98755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A6BBD3"/>
                </a:solidFill>
                <a:latin typeface="Aptos"/>
              </a:rPr>
              <a:t>PS-023  |  Minimal Two-Node Cloud Hypervisor VM Controller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78440" y="6519672"/>
            <a:ext cx="120700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1" i="0">
                <a:solidFill>
                  <a:srgbClr val="23D3EE"/>
                </a:solidFill>
                <a:latin typeface="Aptos"/>
              </a:rPr>
              <a:t>AIORI-3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481328"/>
            <a:ext cx="1051560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EEF6FF"/>
                </a:solidFill>
                <a:latin typeface="Aptos"/>
              </a:rPr>
              <a:t>A centralized dashboard and controller API connect operators to two hypervisor nodes through one interface.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542032"/>
            <a:ext cx="1993392" cy="1920240"/>
          </a:xfrm>
          <a:prstGeom prst="roundRect">
            <a:avLst/>
          </a:prstGeom>
          <a:solidFill>
            <a:srgbClr val="101F3B"/>
          </a:solidFill>
          <a:ln>
            <a:solidFill>
              <a:srgbClr val="2D4D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71600" y="2788920"/>
            <a:ext cx="566928" cy="566928"/>
          </a:xfrm>
          <a:prstGeom prst="ellipse">
            <a:avLst/>
          </a:prstGeom>
          <a:solidFill>
            <a:srgbClr val="142B46"/>
          </a:solidFill>
          <a:ln>
            <a:solidFill>
              <a:srgbClr val="23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89888" y="2944368"/>
            <a:ext cx="53035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23D3EE"/>
                </a:solidFill>
                <a:latin typeface="Aptos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3547872"/>
            <a:ext cx="17373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EEF6FF"/>
                </a:solidFill>
                <a:latin typeface="Aptos"/>
              </a:rPr>
              <a:t>Monitor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3913632"/>
            <a:ext cx="1700784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0" i="0">
                <a:solidFill>
                  <a:srgbClr val="A6BBD3"/>
                </a:solidFill>
                <a:latin typeface="Aptos"/>
              </a:rPr>
              <a:t>View health for both nodes.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71215" y="2542032"/>
            <a:ext cx="1993392" cy="1920240"/>
          </a:xfrm>
          <a:prstGeom prst="roundRect">
            <a:avLst/>
          </a:prstGeom>
          <a:solidFill>
            <a:srgbClr val="101F3B"/>
          </a:solidFill>
          <a:ln>
            <a:solidFill>
              <a:srgbClr val="2D4D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84448" y="2788920"/>
            <a:ext cx="566928" cy="566928"/>
          </a:xfrm>
          <a:prstGeom prst="ellipse">
            <a:avLst/>
          </a:prstGeom>
          <a:solidFill>
            <a:srgbClr val="142B46"/>
          </a:solidFill>
          <a:ln>
            <a:solidFill>
              <a:srgbClr val="1DC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02735" y="2944368"/>
            <a:ext cx="53035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1DC4AA"/>
                </a:solidFill>
                <a:latin typeface="Aptos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99232" y="3547872"/>
            <a:ext cx="17373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EEF6FF"/>
                </a:solidFill>
                <a:latin typeface="Aptos"/>
              </a:rPr>
              <a:t>Inventory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3913632"/>
            <a:ext cx="1700784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0" i="0">
                <a:solidFill>
                  <a:srgbClr val="A6BBD3"/>
                </a:solidFill>
                <a:latin typeface="Aptos"/>
              </a:rPr>
              <a:t>See VMs and resource availability.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84064" y="2542032"/>
            <a:ext cx="1993392" cy="1920240"/>
          </a:xfrm>
          <a:prstGeom prst="roundRect">
            <a:avLst/>
          </a:prstGeom>
          <a:solidFill>
            <a:srgbClr val="101F3B"/>
          </a:solidFill>
          <a:ln>
            <a:solidFill>
              <a:srgbClr val="2D4D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797296" y="2788920"/>
            <a:ext cx="566928" cy="566928"/>
          </a:xfrm>
          <a:prstGeom prst="ellipse">
            <a:avLst/>
          </a:prstGeom>
          <a:solidFill>
            <a:srgbClr val="142B46"/>
          </a:solidFill>
          <a:ln>
            <a:solidFill>
              <a:srgbClr val="23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15583" y="2944368"/>
            <a:ext cx="53035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23D3EE"/>
                </a:solidFill>
                <a:latin typeface="Aptos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79" y="3547872"/>
            <a:ext cx="17373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EEF6FF"/>
                </a:solidFill>
                <a:latin typeface="Aptos"/>
              </a:rPr>
              <a:t>Recommend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0368" y="3913632"/>
            <a:ext cx="1700784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0" i="0">
                <a:solidFill>
                  <a:srgbClr val="A6BBD3"/>
                </a:solidFill>
                <a:latin typeface="Aptos"/>
              </a:rPr>
              <a:t>Suggest a node based on available capacity.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96912" y="2542032"/>
            <a:ext cx="1993392" cy="1920240"/>
          </a:xfrm>
          <a:prstGeom prst="roundRect">
            <a:avLst/>
          </a:prstGeom>
          <a:solidFill>
            <a:srgbClr val="101F3B"/>
          </a:solidFill>
          <a:ln>
            <a:solidFill>
              <a:srgbClr val="2D4D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010144" y="2788920"/>
            <a:ext cx="566928" cy="566928"/>
          </a:xfrm>
          <a:prstGeom prst="ellipse">
            <a:avLst/>
          </a:prstGeom>
          <a:solidFill>
            <a:srgbClr val="142B46"/>
          </a:solidFill>
          <a:ln>
            <a:solidFill>
              <a:srgbClr val="1DC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28431" y="2944368"/>
            <a:ext cx="53035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1DC4AA"/>
                </a:solidFill>
                <a:latin typeface="Aptos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24927" y="3547872"/>
            <a:ext cx="17373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EEF6FF"/>
                </a:solidFill>
                <a:latin typeface="Aptos"/>
              </a:rPr>
              <a:t>Validate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43215" y="3913632"/>
            <a:ext cx="1700784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0" i="0">
                <a:solidFill>
                  <a:srgbClr val="A6BBD3"/>
                </a:solidFill>
                <a:latin typeface="Aptos"/>
              </a:rPr>
              <a:t>Check requests before execution.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09760" y="2542032"/>
            <a:ext cx="1993392" cy="1920240"/>
          </a:xfrm>
          <a:prstGeom prst="roundRect">
            <a:avLst/>
          </a:prstGeom>
          <a:solidFill>
            <a:srgbClr val="101F3B"/>
          </a:solidFill>
          <a:ln>
            <a:solidFill>
              <a:srgbClr val="2D4D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222992" y="2788920"/>
            <a:ext cx="566928" cy="566928"/>
          </a:xfrm>
          <a:prstGeom prst="ellipse">
            <a:avLst/>
          </a:prstGeom>
          <a:solidFill>
            <a:srgbClr val="142B46"/>
          </a:solidFill>
          <a:ln>
            <a:solidFill>
              <a:srgbClr val="23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41280" y="2944368"/>
            <a:ext cx="53035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23D3EE"/>
                </a:solidFill>
                <a:latin typeface="Aptos"/>
              </a:rP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37776" y="3547872"/>
            <a:ext cx="17373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EEF6FF"/>
                </a:solidFill>
                <a:latin typeface="Aptos"/>
              </a:rPr>
              <a:t>Track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56064" y="3913632"/>
            <a:ext cx="1700784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0" i="0">
                <a:solidFill>
                  <a:srgbClr val="A6BBD3"/>
                </a:solidFill>
                <a:latin typeface="Aptos"/>
              </a:rPr>
              <a:t>Show operation status and event history.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97280" y="5084064"/>
            <a:ext cx="9646920" cy="713232"/>
          </a:xfrm>
          <a:prstGeom prst="roundRect">
            <a:avLst/>
          </a:prstGeom>
          <a:solidFill>
            <a:srgbClr val="142B46"/>
          </a:solidFill>
          <a:ln>
            <a:solidFill>
              <a:srgbClr val="23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53312" y="5285232"/>
            <a:ext cx="233172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23D3EE"/>
                </a:solidFill>
                <a:latin typeface="Aptos"/>
              </a:rPr>
              <a:t>ONE CONTROL PLANE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03320" y="5257800"/>
            <a:ext cx="6583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EEF6FF"/>
                </a:solidFill>
                <a:latin typeface="Aptos"/>
              </a:rPr>
              <a:t>Two nodes  •  Validated operations  •  Clear status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832336" y="0"/>
            <a:ext cx="91440" cy="6858000"/>
          </a:xfrm>
          <a:prstGeom prst="rect">
            <a:avLst/>
          </a:prstGeom>
          <a:solidFill>
            <a:srgbClr val="142B46"/>
          </a:solidFill>
          <a:ln>
            <a:solidFill>
              <a:srgbClr val="14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77724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DC4AA"/>
                </a:solidFill>
                <a:latin typeface="Aptos"/>
              </a:rPr>
              <a:t>PS-023  •  BOUNDARIES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097280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EEF6FF"/>
                </a:solidFill>
                <a:latin typeface="Aptos Display"/>
              </a:rPr>
              <a:t>Objectives &amp; Scope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16152"/>
            <a:ext cx="1051560" cy="41148"/>
          </a:xfrm>
          <a:prstGeom prst="rect">
            <a:avLst/>
          </a:prstGeom>
          <a:solidFill>
            <a:srgbClr val="23D3EE"/>
          </a:solidFill>
          <a:ln>
            <a:solidFill>
              <a:srgbClr val="23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61320" y="301752"/>
            <a:ext cx="1005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A6BBD3"/>
                </a:solidFill>
                <a:latin typeface="Aptos"/>
              </a:rPr>
              <a:t>04 / 11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473952"/>
            <a:ext cx="11045952" cy="10972"/>
          </a:xfrm>
          <a:prstGeom prst="rect">
            <a:avLst/>
          </a:prstGeom>
          <a:solidFill>
            <a:srgbClr val="2D4D6C"/>
          </a:solidFill>
          <a:ln>
            <a:solidFill>
              <a:srgbClr val="2D4D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" y="6519672"/>
            <a:ext cx="98755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A6BBD3"/>
                </a:solidFill>
                <a:latin typeface="Aptos"/>
              </a:rPr>
              <a:t>PS-023  |  Minimal Two-Node Cloud Hypervisor VM Controller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78440" y="6519672"/>
            <a:ext cx="120700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1" i="0">
                <a:solidFill>
                  <a:srgbClr val="23D3EE"/>
                </a:solidFill>
                <a:latin typeface="Aptos"/>
              </a:rPr>
              <a:t>AIORI-3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508760"/>
            <a:ext cx="5230368" cy="4434840"/>
          </a:xfrm>
          <a:prstGeom prst="roundRect">
            <a:avLst/>
          </a:prstGeom>
          <a:solidFill>
            <a:srgbClr val="101F3B"/>
          </a:solidFill>
          <a:ln>
            <a:solidFill>
              <a:srgbClr val="2D4D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508760"/>
            <a:ext cx="50292" cy="4434840"/>
          </a:xfrm>
          <a:prstGeom prst="rect">
            <a:avLst/>
          </a:prstGeom>
          <a:solidFill>
            <a:srgbClr val="23D3EE"/>
          </a:solidFill>
          <a:ln>
            <a:solidFill>
              <a:srgbClr val="23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645919"/>
            <a:ext cx="491032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23D3EE"/>
                </a:solidFill>
                <a:latin typeface="Aptos"/>
              </a:rPr>
              <a:t>OBJECTIVES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2231136"/>
            <a:ext cx="91440" cy="91440"/>
          </a:xfrm>
          <a:prstGeom prst="ellipse">
            <a:avLst/>
          </a:prstGeom>
          <a:solidFill>
            <a:srgbClr val="23D3EE"/>
          </a:solidFill>
          <a:ln>
            <a:solidFill>
              <a:srgbClr val="23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2121408"/>
            <a:ext cx="4480560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EEF6FF"/>
                </a:solidFill>
                <a:latin typeface="Aptos"/>
              </a:rPr>
              <a:t>Display the status of both hypervisor nodes.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2941828"/>
            <a:ext cx="91440" cy="91440"/>
          </a:xfrm>
          <a:prstGeom prst="ellipse">
            <a:avLst/>
          </a:prstGeom>
          <a:solidFill>
            <a:srgbClr val="23D3EE"/>
          </a:solidFill>
          <a:ln>
            <a:solidFill>
              <a:srgbClr val="23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2832099"/>
            <a:ext cx="4480560" cy="3383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EEF6FF"/>
                </a:solidFill>
                <a:latin typeface="Aptos"/>
              </a:rPr>
              <a:t>Summarize VMs and available resources.</a:t>
            </a:r>
          </a:p>
        </p:txBody>
      </p:sp>
      <p:sp>
        <p:nvSpPr>
          <p:cNvPr id="17" name="Oval 16"/>
          <p:cNvSpPr/>
          <p:nvPr/>
        </p:nvSpPr>
        <p:spPr>
          <a:xfrm>
            <a:off x="896112" y="3369055"/>
            <a:ext cx="91440" cy="91440"/>
          </a:xfrm>
          <a:prstGeom prst="ellipse">
            <a:avLst/>
          </a:prstGeom>
          <a:solidFill>
            <a:srgbClr val="23D3EE"/>
          </a:solidFill>
          <a:ln>
            <a:solidFill>
              <a:srgbClr val="23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3259327"/>
            <a:ext cx="4480560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EEF6FF"/>
                </a:solidFill>
                <a:latin typeface="Aptos"/>
              </a:rPr>
              <a:t>Support a controlled VM management workflow.</a:t>
            </a:r>
          </a:p>
        </p:txBody>
      </p:sp>
      <p:sp>
        <p:nvSpPr>
          <p:cNvPr id="19" name="Oval 18"/>
          <p:cNvSpPr/>
          <p:nvPr/>
        </p:nvSpPr>
        <p:spPr>
          <a:xfrm>
            <a:off x="896112" y="4079747"/>
            <a:ext cx="91440" cy="91440"/>
          </a:xfrm>
          <a:prstGeom prst="ellipse">
            <a:avLst/>
          </a:prstGeom>
          <a:solidFill>
            <a:srgbClr val="23D3EE"/>
          </a:solidFill>
          <a:ln>
            <a:solidFill>
              <a:srgbClr val="23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3970019"/>
            <a:ext cx="4480560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EEF6FF"/>
                </a:solidFill>
                <a:latin typeface="Aptos"/>
              </a:rPr>
              <a:t>Recommend placement based on resource availability.</a:t>
            </a:r>
          </a:p>
        </p:txBody>
      </p:sp>
      <p:sp>
        <p:nvSpPr>
          <p:cNvPr id="21" name="Oval 20"/>
          <p:cNvSpPr/>
          <p:nvPr/>
        </p:nvSpPr>
        <p:spPr>
          <a:xfrm>
            <a:off x="896112" y="4790439"/>
            <a:ext cx="91440" cy="91440"/>
          </a:xfrm>
          <a:prstGeom prst="ellipse">
            <a:avLst/>
          </a:prstGeom>
          <a:solidFill>
            <a:srgbClr val="23D3EE"/>
          </a:solidFill>
          <a:ln>
            <a:solidFill>
              <a:srgbClr val="23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4680711"/>
            <a:ext cx="4480560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EEF6FF"/>
                </a:solidFill>
                <a:latin typeface="Aptos"/>
              </a:rPr>
              <a:t>Record operation results for debugging and transparency.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99632" y="1508760"/>
            <a:ext cx="5166360" cy="4434840"/>
          </a:xfrm>
          <a:prstGeom prst="roundRect">
            <a:avLst/>
          </a:prstGeom>
          <a:solidFill>
            <a:srgbClr val="101F3B"/>
          </a:solidFill>
          <a:ln>
            <a:solidFill>
              <a:srgbClr val="2D4D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99632" y="1508760"/>
            <a:ext cx="50292" cy="4434840"/>
          </a:xfrm>
          <a:prstGeom prst="rect">
            <a:avLst/>
          </a:prstGeom>
          <a:solidFill>
            <a:srgbClr val="1DC4AA"/>
          </a:solidFill>
          <a:ln>
            <a:solidFill>
              <a:srgbClr val="1DC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82512" y="1645919"/>
            <a:ext cx="484632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DC4AA"/>
                </a:solidFill>
                <a:latin typeface="Aptos"/>
              </a:rPr>
              <a:t>INITIAL SCOPE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55664" y="2148840"/>
            <a:ext cx="4617720" cy="21945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EEF6FF"/>
                </a:solidFill>
                <a:latin typeface="Aptos"/>
              </a:rPr>
              <a:t>• Two hypervisor nodes</a:t>
            </a: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EEF6FF"/>
                </a:solidFill>
                <a:latin typeface="Aptos"/>
              </a:rPr>
              <a:t>• Hypervisor APIs available in the development environment</a:t>
            </a: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EEF6FF"/>
                </a:solidFill>
                <a:latin typeface="Aptos"/>
              </a:rPr>
              <a:t>• Core monitoring, validation and supported VM actions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19088" y="4663440"/>
            <a:ext cx="4645152" cy="896112"/>
          </a:xfrm>
          <a:prstGeom prst="roundRect">
            <a:avLst/>
          </a:prstGeom>
          <a:solidFill>
            <a:srgbClr val="142B46"/>
          </a:solidFill>
          <a:ln>
            <a:solidFill>
              <a:srgbClr val="FFB9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4828032"/>
            <a:ext cx="4315968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FFB95F"/>
                </a:solidFill>
                <a:latin typeface="Aptos"/>
              </a:rPr>
              <a:t>Not claimed unless implemented and tested: live migration, automatic high availability, or advanced orchestration.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832336" y="0"/>
            <a:ext cx="91440" cy="6858000"/>
          </a:xfrm>
          <a:prstGeom prst="rect">
            <a:avLst/>
          </a:prstGeom>
          <a:solidFill>
            <a:srgbClr val="142B46"/>
          </a:solidFill>
          <a:ln>
            <a:solidFill>
              <a:srgbClr val="14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77724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DC4AA"/>
                </a:solidFill>
                <a:latin typeface="Aptos"/>
              </a:rPr>
              <a:t>PS-023  •  SYSTEM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097280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EEF6FF"/>
                </a:solidFill>
                <a:latin typeface="Aptos Display"/>
              </a:rPr>
              <a:t>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16152"/>
            <a:ext cx="1051560" cy="41148"/>
          </a:xfrm>
          <a:prstGeom prst="rect">
            <a:avLst/>
          </a:prstGeom>
          <a:solidFill>
            <a:srgbClr val="23D3EE"/>
          </a:solidFill>
          <a:ln>
            <a:solidFill>
              <a:srgbClr val="23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61320" y="301752"/>
            <a:ext cx="1005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A6BBD3"/>
                </a:solidFill>
                <a:latin typeface="Aptos"/>
              </a:rPr>
              <a:t>05 / 11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473952"/>
            <a:ext cx="11045952" cy="10972"/>
          </a:xfrm>
          <a:prstGeom prst="rect">
            <a:avLst/>
          </a:prstGeom>
          <a:solidFill>
            <a:srgbClr val="2D4D6C"/>
          </a:solidFill>
          <a:ln>
            <a:solidFill>
              <a:srgbClr val="2D4D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" y="6519672"/>
            <a:ext cx="98755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A6BBD3"/>
                </a:solidFill>
                <a:latin typeface="Aptos"/>
              </a:rPr>
              <a:t>PS-023  |  Minimal Two-Node Cloud Hypervisor VM Controller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78440" y="6519672"/>
            <a:ext cx="120700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1" i="0">
                <a:solidFill>
                  <a:srgbClr val="23D3EE"/>
                </a:solidFill>
                <a:latin typeface="Aptos"/>
              </a:rPr>
              <a:t>AIORI-3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572768"/>
            <a:ext cx="2788920" cy="1078992"/>
          </a:xfrm>
          <a:prstGeom prst="roundRect">
            <a:avLst/>
          </a:prstGeom>
          <a:solidFill>
            <a:srgbClr val="101F3B"/>
          </a:solidFill>
          <a:ln>
            <a:solidFill>
              <a:srgbClr val="23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783080"/>
            <a:ext cx="23317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23D3EE"/>
                </a:solidFill>
                <a:latin typeface="Aptos"/>
              </a:rPr>
              <a:t>WEB 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130552"/>
            <a:ext cx="23317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A6BBD3"/>
                </a:solidFill>
                <a:latin typeface="Aptos"/>
              </a:rPr>
              <a:t>Node health  •  VM inventory</a:t>
            </a:r>
          </a:p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A6BBD3"/>
                </a:solidFill>
                <a:latin typeface="Aptos"/>
              </a:rPr>
              <a:t>Resource usage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99432" y="1572768"/>
            <a:ext cx="2926080" cy="1078992"/>
          </a:xfrm>
          <a:prstGeom prst="roundRect">
            <a:avLst/>
          </a:prstGeom>
          <a:solidFill>
            <a:srgbClr val="142B46"/>
          </a:solidFill>
          <a:ln>
            <a:solidFill>
              <a:srgbClr val="1DC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18888" y="1783080"/>
            <a:ext cx="248716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1DC4AA"/>
                </a:solidFill>
                <a:latin typeface="Aptos"/>
              </a:rPr>
              <a:t>CONTROLLER 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2130552"/>
            <a:ext cx="2523744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A6BBD3"/>
                </a:solidFill>
                <a:latin typeface="Aptos"/>
              </a:rPr>
              <a:t>Validation  •  Scheduler</a:t>
            </a:r>
          </a:p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A6BBD3"/>
                </a:solidFill>
                <a:latin typeface="Aptos"/>
              </a:rPr>
              <a:t>Health checks  •  Audit logs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502152" y="2112264"/>
            <a:ext cx="1097280" cy="0"/>
          </a:xfrm>
          <a:prstGeom prst="line">
            <a:avLst/>
          </a:prstGeom>
          <a:ln w="25400">
            <a:solidFill>
              <a:srgbClr val="23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2743200" y="2651760"/>
            <a:ext cx="3319272" cy="1078992"/>
          </a:xfrm>
          <a:prstGeom prst="line">
            <a:avLst/>
          </a:prstGeom>
          <a:ln w="25400">
            <a:solidFill>
              <a:srgbClr val="23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062472" y="2651760"/>
            <a:ext cx="3035808" cy="1078992"/>
          </a:xfrm>
          <a:prstGeom prst="line">
            <a:avLst/>
          </a:prstGeom>
          <a:ln w="25400">
            <a:solidFill>
              <a:srgbClr val="23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60120" y="3730752"/>
            <a:ext cx="3474720" cy="1325880"/>
          </a:xfrm>
          <a:prstGeom prst="roundRect">
            <a:avLst/>
          </a:prstGeom>
          <a:solidFill>
            <a:srgbClr val="101F3B"/>
          </a:solidFill>
          <a:ln>
            <a:solidFill>
              <a:srgbClr val="2D4D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34440" y="3968496"/>
            <a:ext cx="11887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23D3EE"/>
                </a:solidFill>
                <a:latin typeface="Aptos"/>
              </a:rPr>
              <a:t>NODE 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4379976"/>
            <a:ext cx="28803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A6BBD3"/>
                </a:solidFill>
                <a:latin typeface="Aptos"/>
              </a:rPr>
              <a:t>Hypervisor adapter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A6BBD3"/>
                </a:solidFill>
                <a:latin typeface="Aptos"/>
              </a:rPr>
              <a:t>Supported node operations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06640" y="3730752"/>
            <a:ext cx="3474720" cy="1325880"/>
          </a:xfrm>
          <a:prstGeom prst="roundRect">
            <a:avLst/>
          </a:prstGeom>
          <a:solidFill>
            <a:srgbClr val="101F3B"/>
          </a:solidFill>
          <a:ln>
            <a:solidFill>
              <a:srgbClr val="2D4D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0" y="3968496"/>
            <a:ext cx="11887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DC4AA"/>
                </a:solidFill>
                <a:latin typeface="Aptos"/>
              </a:rPr>
              <a:t>NODE 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4379976"/>
            <a:ext cx="28803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A6BBD3"/>
                </a:solidFill>
                <a:latin typeface="Aptos"/>
              </a:rPr>
              <a:t>Hypervisor adapter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A6BBD3"/>
                </a:solidFill>
                <a:latin typeface="Aptos"/>
              </a:rPr>
              <a:t>Supported node operations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901952" y="5440680"/>
            <a:ext cx="8257031" cy="566928"/>
          </a:xfrm>
          <a:prstGeom prst="roundRect">
            <a:avLst/>
          </a:prstGeom>
          <a:solidFill>
            <a:srgbClr val="142B46"/>
          </a:solidFill>
          <a:ln>
            <a:solidFill>
              <a:srgbClr val="2D4D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084831" y="5605272"/>
            <a:ext cx="79095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EEF6FF"/>
                </a:solidFill>
                <a:latin typeface="Aptos"/>
              </a:rPr>
              <a:t>Architecture flow: Dashboard → Controller API → Hypervisor adapters → Nodes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832336" y="0"/>
            <a:ext cx="91440" cy="6858000"/>
          </a:xfrm>
          <a:prstGeom prst="rect">
            <a:avLst/>
          </a:prstGeom>
          <a:solidFill>
            <a:srgbClr val="142B46"/>
          </a:solidFill>
          <a:ln>
            <a:solidFill>
              <a:srgbClr val="14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77724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DC4AA"/>
                </a:solidFill>
                <a:latin typeface="Aptos"/>
              </a:rPr>
              <a:t>PS-023  •  IMPLEMENTATION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097280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EEF6FF"/>
                </a:solidFill>
                <a:latin typeface="Aptos Display"/>
              </a:rPr>
              <a:t>Proposed Technology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16152"/>
            <a:ext cx="1051560" cy="41148"/>
          </a:xfrm>
          <a:prstGeom prst="rect">
            <a:avLst/>
          </a:prstGeom>
          <a:solidFill>
            <a:srgbClr val="23D3EE"/>
          </a:solidFill>
          <a:ln>
            <a:solidFill>
              <a:srgbClr val="23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61320" y="301752"/>
            <a:ext cx="1005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A6BBD3"/>
                </a:solidFill>
                <a:latin typeface="Aptos"/>
              </a:rPr>
              <a:t>06 / 11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473952"/>
            <a:ext cx="11045952" cy="10972"/>
          </a:xfrm>
          <a:prstGeom prst="rect">
            <a:avLst/>
          </a:prstGeom>
          <a:solidFill>
            <a:srgbClr val="2D4D6C"/>
          </a:solidFill>
          <a:ln>
            <a:solidFill>
              <a:srgbClr val="2D4D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" y="6519672"/>
            <a:ext cx="98755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A6BBD3"/>
                </a:solidFill>
                <a:latin typeface="Aptos"/>
              </a:rPr>
              <a:t>PS-023  |  Minimal Two-Node Cloud Hypervisor VM Controller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78440" y="6519672"/>
            <a:ext cx="120700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1" i="0">
                <a:solidFill>
                  <a:srgbClr val="23D3EE"/>
                </a:solidFill>
                <a:latin typeface="Aptos"/>
              </a:rPr>
              <a:t>AIORI-3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481328"/>
            <a:ext cx="2084831" cy="438912"/>
          </a:xfrm>
          <a:prstGeom prst="roundRect">
            <a:avLst/>
          </a:prstGeom>
          <a:solidFill>
            <a:srgbClr val="142B46"/>
          </a:solidFill>
          <a:ln>
            <a:solidFill>
              <a:srgbClr val="23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1609344"/>
            <a:ext cx="186537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23D3EE"/>
                </a:solidFill>
                <a:latin typeface="Aptos"/>
              </a:rPr>
              <a:t>COMPONENT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0" y="1481328"/>
            <a:ext cx="2999232" cy="438912"/>
          </a:xfrm>
          <a:prstGeom prst="roundRect">
            <a:avLst/>
          </a:prstGeom>
          <a:solidFill>
            <a:srgbClr val="142B46"/>
          </a:solidFill>
          <a:ln>
            <a:solidFill>
              <a:srgbClr val="2D4D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52928" y="1609344"/>
            <a:ext cx="277977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23D3EE"/>
                </a:solidFill>
                <a:latin typeface="Aptos"/>
              </a:rPr>
              <a:t>PROPOSED TECHNOLOGY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42432" y="1481328"/>
            <a:ext cx="5614416" cy="438912"/>
          </a:xfrm>
          <a:prstGeom prst="roundRect">
            <a:avLst/>
          </a:prstGeom>
          <a:solidFill>
            <a:srgbClr val="142B46"/>
          </a:solidFill>
          <a:ln>
            <a:solidFill>
              <a:srgbClr val="2D4D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1609344"/>
            <a:ext cx="5394959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23D3EE"/>
                </a:solidFill>
                <a:latin typeface="Aptos"/>
              </a:rPr>
              <a:t>PURPOSE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1993392"/>
            <a:ext cx="2084831" cy="530352"/>
          </a:xfrm>
          <a:prstGeom prst="rect">
            <a:avLst/>
          </a:prstGeom>
          <a:solidFill>
            <a:srgbClr val="101F3B"/>
          </a:solidFill>
          <a:ln>
            <a:solidFill>
              <a:srgbClr val="2D4D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2093976"/>
            <a:ext cx="1865376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20" b="1" i="0">
                <a:solidFill>
                  <a:srgbClr val="1DC4AA"/>
                </a:solidFill>
                <a:latin typeface="Aptos"/>
              </a:rPr>
              <a:t>Frontend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0" y="1993392"/>
            <a:ext cx="2999232" cy="530352"/>
          </a:xfrm>
          <a:prstGeom prst="rect">
            <a:avLst/>
          </a:prstGeom>
          <a:solidFill>
            <a:srgbClr val="101F3B"/>
          </a:solidFill>
          <a:ln>
            <a:solidFill>
              <a:srgbClr val="2D4D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52928" y="2093976"/>
            <a:ext cx="2779776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20" b="0" i="0">
                <a:solidFill>
                  <a:srgbClr val="EEF6FF"/>
                </a:solidFill>
                <a:latin typeface="Aptos"/>
              </a:rPr>
              <a:t>React + TypeScript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42432" y="1993392"/>
            <a:ext cx="5614416" cy="530352"/>
          </a:xfrm>
          <a:prstGeom prst="rect">
            <a:avLst/>
          </a:prstGeom>
          <a:solidFill>
            <a:srgbClr val="101F3B"/>
          </a:solidFill>
          <a:ln>
            <a:solidFill>
              <a:srgbClr val="2D4D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52160" y="2093976"/>
            <a:ext cx="5394959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20" b="0" i="0">
                <a:solidFill>
                  <a:srgbClr val="EEF6FF"/>
                </a:solidFill>
                <a:latin typeface="Aptos"/>
              </a:rPr>
              <a:t>Interactive dashboard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2551176"/>
            <a:ext cx="2084831" cy="530352"/>
          </a:xfrm>
          <a:prstGeom prst="rect">
            <a:avLst/>
          </a:prstGeom>
          <a:solidFill>
            <a:srgbClr val="0C1930"/>
          </a:solidFill>
          <a:ln>
            <a:solidFill>
              <a:srgbClr val="2D4D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2651760"/>
            <a:ext cx="1865376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20" b="1" i="0">
                <a:solidFill>
                  <a:srgbClr val="1DC4AA"/>
                </a:solidFill>
                <a:latin typeface="Aptos"/>
              </a:rPr>
              <a:t>Styling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0" y="2551176"/>
            <a:ext cx="2999232" cy="530352"/>
          </a:xfrm>
          <a:prstGeom prst="rect">
            <a:avLst/>
          </a:prstGeom>
          <a:solidFill>
            <a:srgbClr val="0C1930"/>
          </a:solidFill>
          <a:ln>
            <a:solidFill>
              <a:srgbClr val="2D4D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52928" y="2651760"/>
            <a:ext cx="2779776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20" b="0" i="0">
                <a:solidFill>
                  <a:srgbClr val="EEF6FF"/>
                </a:solidFill>
                <a:latin typeface="Aptos"/>
              </a:rPr>
              <a:t>Tailwind CSS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42432" y="2551176"/>
            <a:ext cx="5614416" cy="530352"/>
          </a:xfrm>
          <a:prstGeom prst="rect">
            <a:avLst/>
          </a:prstGeom>
          <a:solidFill>
            <a:srgbClr val="0C1930"/>
          </a:solidFill>
          <a:ln>
            <a:solidFill>
              <a:srgbClr val="2D4D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52160" y="2651760"/>
            <a:ext cx="5394959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20" b="0" i="0">
                <a:solidFill>
                  <a:srgbClr val="EEF6FF"/>
                </a:solidFill>
                <a:latin typeface="Aptos"/>
              </a:rPr>
              <a:t>Responsive interface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3108960"/>
            <a:ext cx="2084831" cy="530352"/>
          </a:xfrm>
          <a:prstGeom prst="rect">
            <a:avLst/>
          </a:prstGeom>
          <a:solidFill>
            <a:srgbClr val="101F3B"/>
          </a:solidFill>
          <a:ln>
            <a:solidFill>
              <a:srgbClr val="2D4D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" y="3209544"/>
            <a:ext cx="1865376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20" b="1" i="0">
                <a:solidFill>
                  <a:srgbClr val="1DC4AA"/>
                </a:solidFill>
                <a:latin typeface="Aptos"/>
              </a:rPr>
              <a:t>Backend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0" y="3108960"/>
            <a:ext cx="2999232" cy="530352"/>
          </a:xfrm>
          <a:prstGeom prst="rect">
            <a:avLst/>
          </a:prstGeom>
          <a:solidFill>
            <a:srgbClr val="101F3B"/>
          </a:solidFill>
          <a:ln>
            <a:solidFill>
              <a:srgbClr val="2D4D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852928" y="3209544"/>
            <a:ext cx="2779776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20" b="0" i="0">
                <a:solidFill>
                  <a:srgbClr val="EEF6FF"/>
                </a:solidFill>
                <a:latin typeface="Aptos"/>
              </a:rPr>
              <a:t>Node.js + Express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742432" y="3108960"/>
            <a:ext cx="5614416" cy="530352"/>
          </a:xfrm>
          <a:prstGeom prst="rect">
            <a:avLst/>
          </a:prstGeom>
          <a:solidFill>
            <a:srgbClr val="101F3B"/>
          </a:solidFill>
          <a:ln>
            <a:solidFill>
              <a:srgbClr val="2D4D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52160" y="3209544"/>
            <a:ext cx="5394959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20" b="0" i="0">
                <a:solidFill>
                  <a:srgbClr val="EEF6FF"/>
                </a:solidFill>
                <a:latin typeface="Aptos"/>
              </a:rPr>
              <a:t>API and controller logic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3666744"/>
            <a:ext cx="2084831" cy="530352"/>
          </a:xfrm>
          <a:prstGeom prst="rect">
            <a:avLst/>
          </a:prstGeom>
          <a:solidFill>
            <a:srgbClr val="0C1930"/>
          </a:solidFill>
          <a:ln>
            <a:solidFill>
              <a:srgbClr val="2D4D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8096" y="3767328"/>
            <a:ext cx="1865376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20" b="1" i="0">
                <a:solidFill>
                  <a:srgbClr val="1DC4AA"/>
                </a:solidFill>
                <a:latin typeface="Aptos"/>
              </a:rPr>
              <a:t>Hypervisor integration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0" y="3666744"/>
            <a:ext cx="2999232" cy="530352"/>
          </a:xfrm>
          <a:prstGeom prst="rect">
            <a:avLst/>
          </a:prstGeom>
          <a:solidFill>
            <a:srgbClr val="0C1930"/>
          </a:solidFill>
          <a:ln>
            <a:solidFill>
              <a:srgbClr val="2D4D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852928" y="3767328"/>
            <a:ext cx="2779776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19" b="0" i="0">
                <a:solidFill>
                  <a:srgbClr val="EEF6FF"/>
                </a:solidFill>
                <a:latin typeface="Aptos"/>
              </a:rPr>
              <a:t>Supported hypervisor API (e.g., KVM/libvirt where available)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742432" y="3666744"/>
            <a:ext cx="5614416" cy="530352"/>
          </a:xfrm>
          <a:prstGeom prst="rect">
            <a:avLst/>
          </a:prstGeom>
          <a:solidFill>
            <a:srgbClr val="0C1930"/>
          </a:solidFill>
          <a:ln>
            <a:solidFill>
              <a:srgbClr val="2D4D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852160" y="3767328"/>
            <a:ext cx="5394959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20" b="0" i="0">
                <a:solidFill>
                  <a:srgbClr val="EEF6FF"/>
                </a:solidFill>
                <a:latin typeface="Aptos"/>
              </a:rPr>
              <a:t>VM and node operations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8368" y="4224528"/>
            <a:ext cx="2084831" cy="530352"/>
          </a:xfrm>
          <a:prstGeom prst="rect">
            <a:avLst/>
          </a:prstGeom>
          <a:solidFill>
            <a:srgbClr val="101F3B"/>
          </a:solidFill>
          <a:ln>
            <a:solidFill>
              <a:srgbClr val="2D4D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8096" y="4325112"/>
            <a:ext cx="1865376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20" b="1" i="0">
                <a:solidFill>
                  <a:srgbClr val="1DC4AA"/>
                </a:solidFill>
                <a:latin typeface="Aptos"/>
              </a:rPr>
              <a:t>Data storage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0" y="4224528"/>
            <a:ext cx="2999232" cy="530352"/>
          </a:xfrm>
          <a:prstGeom prst="rect">
            <a:avLst/>
          </a:prstGeom>
          <a:solidFill>
            <a:srgbClr val="101F3B"/>
          </a:solidFill>
          <a:ln>
            <a:solidFill>
              <a:srgbClr val="2D4D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852928" y="4325112"/>
            <a:ext cx="2779776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20" b="0" i="0">
                <a:solidFill>
                  <a:srgbClr val="EEF6FF"/>
                </a:solidFill>
                <a:latin typeface="Aptos"/>
              </a:rPr>
              <a:t>Lightweight database, if required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742432" y="4224528"/>
            <a:ext cx="5614416" cy="530352"/>
          </a:xfrm>
          <a:prstGeom prst="rect">
            <a:avLst/>
          </a:prstGeom>
          <a:solidFill>
            <a:srgbClr val="101F3B"/>
          </a:solidFill>
          <a:ln>
            <a:solidFill>
              <a:srgbClr val="2D4D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852160" y="4325112"/>
            <a:ext cx="5394959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20" b="0" i="0">
                <a:solidFill>
                  <a:srgbClr val="EEF6FF"/>
                </a:solidFill>
                <a:latin typeface="Aptos"/>
              </a:rPr>
              <a:t>Configuration and event history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8368" y="4782312"/>
            <a:ext cx="2084831" cy="530352"/>
          </a:xfrm>
          <a:prstGeom prst="rect">
            <a:avLst/>
          </a:prstGeom>
          <a:solidFill>
            <a:srgbClr val="0C1930"/>
          </a:solidFill>
          <a:ln>
            <a:solidFill>
              <a:srgbClr val="2D4D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68096" y="4882896"/>
            <a:ext cx="1865376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20" b="1" i="0">
                <a:solidFill>
                  <a:srgbClr val="1DC4AA"/>
                </a:solidFill>
                <a:latin typeface="Aptos"/>
              </a:rPr>
              <a:t>Testing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0" y="4782312"/>
            <a:ext cx="2999232" cy="530352"/>
          </a:xfrm>
          <a:prstGeom prst="rect">
            <a:avLst/>
          </a:prstGeom>
          <a:solidFill>
            <a:srgbClr val="0C1930"/>
          </a:solidFill>
          <a:ln>
            <a:solidFill>
              <a:srgbClr val="2D4D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852928" y="4882896"/>
            <a:ext cx="2779776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20" b="0" i="0">
                <a:solidFill>
                  <a:srgbClr val="EEF6FF"/>
                </a:solidFill>
                <a:latin typeface="Aptos"/>
              </a:rPr>
              <a:t>API tests + simulated node responses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742432" y="4782312"/>
            <a:ext cx="5614416" cy="530352"/>
          </a:xfrm>
          <a:prstGeom prst="rect">
            <a:avLst/>
          </a:prstGeom>
          <a:solidFill>
            <a:srgbClr val="0C1930"/>
          </a:solidFill>
          <a:ln>
            <a:solidFill>
              <a:srgbClr val="2D4D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852160" y="4882896"/>
            <a:ext cx="5394959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20" b="0" i="0">
                <a:solidFill>
                  <a:srgbClr val="EEF6FF"/>
                </a:solidFill>
                <a:latin typeface="Aptos"/>
              </a:rPr>
              <a:t>Verify workflows and failures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3232" y="5577840"/>
            <a:ext cx="107899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FFB95F"/>
                </a:solidFill>
                <a:latin typeface="Aptos"/>
              </a:rPr>
              <a:t>Technology choices are proposed; final selections must match the available development environment.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832336" y="0"/>
            <a:ext cx="91440" cy="6858000"/>
          </a:xfrm>
          <a:prstGeom prst="rect">
            <a:avLst/>
          </a:prstGeom>
          <a:solidFill>
            <a:srgbClr val="142B46"/>
          </a:solidFill>
          <a:ln>
            <a:solidFill>
              <a:srgbClr val="14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77724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DC4AA"/>
                </a:solidFill>
                <a:latin typeface="Aptos"/>
              </a:rPr>
              <a:t>PS-023  •  OPERATION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097280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EEF6FF"/>
                </a:solidFill>
                <a:latin typeface="Aptos Display"/>
              </a:rPr>
              <a:t>VM Management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16152"/>
            <a:ext cx="1051560" cy="41148"/>
          </a:xfrm>
          <a:prstGeom prst="rect">
            <a:avLst/>
          </a:prstGeom>
          <a:solidFill>
            <a:srgbClr val="23D3EE"/>
          </a:solidFill>
          <a:ln>
            <a:solidFill>
              <a:srgbClr val="23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61320" y="301752"/>
            <a:ext cx="1005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A6BBD3"/>
                </a:solidFill>
                <a:latin typeface="Aptos"/>
              </a:rPr>
              <a:t>07 / 11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473952"/>
            <a:ext cx="11045952" cy="10972"/>
          </a:xfrm>
          <a:prstGeom prst="rect">
            <a:avLst/>
          </a:prstGeom>
          <a:solidFill>
            <a:srgbClr val="2D4D6C"/>
          </a:solidFill>
          <a:ln>
            <a:solidFill>
              <a:srgbClr val="2D4D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" y="6519672"/>
            <a:ext cx="98755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A6BBD3"/>
                </a:solidFill>
                <a:latin typeface="Aptos"/>
              </a:rPr>
              <a:t>PS-023  |  Minimal Two-Node Cloud Hypervisor VM Controller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78440" y="6519672"/>
            <a:ext cx="120700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1" i="0">
                <a:solidFill>
                  <a:srgbClr val="23D3EE"/>
                </a:solidFill>
                <a:latin typeface="Aptos"/>
              </a:rPr>
              <a:t>AIORI-3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965960"/>
            <a:ext cx="2057400" cy="2286000"/>
          </a:xfrm>
          <a:prstGeom prst="roundRect">
            <a:avLst/>
          </a:prstGeom>
          <a:solidFill>
            <a:srgbClr val="101F3B"/>
          </a:solidFill>
          <a:ln>
            <a:solidFill>
              <a:srgbClr val="23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19456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23D3EE"/>
                </a:solidFill>
                <a:latin typeface="Apto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761488"/>
            <a:ext cx="17373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EEF6FF"/>
                </a:solidFill>
                <a:latin typeface="Aptos"/>
              </a:rPr>
              <a:t>OBSERVE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218688"/>
            <a:ext cx="173736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A6BBD3"/>
                </a:solidFill>
                <a:latin typeface="Aptos"/>
              </a:rPr>
              <a:t>Read node health,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A6BBD3"/>
                </a:solidFill>
                <a:latin typeface="Aptos"/>
              </a:rPr>
              <a:t>VM inventory and resources.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60904" y="3063240"/>
            <a:ext cx="228600" cy="0"/>
          </a:xfrm>
          <a:prstGeom prst="line">
            <a:avLst/>
          </a:prstGeom>
          <a:ln w="25400">
            <a:solidFill>
              <a:srgbClr val="23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16936" y="1965960"/>
            <a:ext cx="2057400" cy="2286000"/>
          </a:xfrm>
          <a:prstGeom prst="roundRect">
            <a:avLst/>
          </a:prstGeom>
          <a:solidFill>
            <a:srgbClr val="101F3B"/>
          </a:solidFill>
          <a:ln>
            <a:solidFill>
              <a:srgbClr val="1DC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81528" y="219456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DC4AA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81528" y="2761488"/>
            <a:ext cx="17373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EEF6FF"/>
                </a:solidFill>
                <a:latin typeface="Aptos"/>
              </a:rPr>
              <a:t>SELECT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81528" y="3218688"/>
            <a:ext cx="173736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A6BBD3"/>
                </a:solidFill>
                <a:latin typeface="Aptos"/>
              </a:rPr>
              <a:t>Choose a VM action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A6BBD3"/>
                </a:solidFill>
                <a:latin typeface="Aptos"/>
              </a:rPr>
              <a:t>and eligible node.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974336" y="3063240"/>
            <a:ext cx="228600" cy="0"/>
          </a:xfrm>
          <a:prstGeom prst="line">
            <a:avLst/>
          </a:prstGeom>
          <a:ln w="25400">
            <a:solidFill>
              <a:srgbClr val="23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230368" y="1965960"/>
            <a:ext cx="2057400" cy="2286000"/>
          </a:xfrm>
          <a:prstGeom prst="roundRect">
            <a:avLst/>
          </a:prstGeom>
          <a:solidFill>
            <a:srgbClr val="101F3B"/>
          </a:solidFill>
          <a:ln>
            <a:solidFill>
              <a:srgbClr val="23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94959" y="219456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23D3EE"/>
                </a:solidFill>
                <a:latin typeface="Apto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4959" y="2761488"/>
            <a:ext cx="17373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EEF6FF"/>
                </a:solidFill>
                <a:latin typeface="Aptos"/>
              </a:rPr>
              <a:t>VALIDATE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4959" y="3218688"/>
            <a:ext cx="173736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A6BBD3"/>
                </a:solidFill>
                <a:latin typeface="Aptos"/>
              </a:rPr>
              <a:t>Check permissions, inputs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A6BBD3"/>
                </a:solidFill>
                <a:latin typeface="Aptos"/>
              </a:rPr>
              <a:t>and available capacity.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287768" y="3063240"/>
            <a:ext cx="228599" cy="0"/>
          </a:xfrm>
          <a:prstGeom prst="line">
            <a:avLst/>
          </a:prstGeom>
          <a:ln w="25400">
            <a:solidFill>
              <a:srgbClr val="23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543800" y="1965960"/>
            <a:ext cx="2057400" cy="2286000"/>
          </a:xfrm>
          <a:prstGeom prst="roundRect">
            <a:avLst/>
          </a:prstGeom>
          <a:solidFill>
            <a:srgbClr val="101F3B"/>
          </a:solidFill>
          <a:ln>
            <a:solidFill>
              <a:srgbClr val="1DC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08392" y="219456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DC4AA"/>
                </a:solidFill>
                <a:latin typeface="Aptos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08392" y="2761488"/>
            <a:ext cx="17373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EEF6FF"/>
                </a:solidFill>
                <a:latin typeface="Aptos"/>
              </a:rPr>
              <a:t>EXECUTE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08392" y="3218688"/>
            <a:ext cx="173736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A6BBD3"/>
                </a:solidFill>
                <a:latin typeface="Aptos"/>
              </a:rPr>
              <a:t>Send request through the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A6BBD3"/>
                </a:solidFill>
                <a:latin typeface="Aptos"/>
              </a:rPr>
              <a:t>supported hypervisor adapter.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601200" y="3063240"/>
            <a:ext cx="228600" cy="0"/>
          </a:xfrm>
          <a:prstGeom prst="line">
            <a:avLst/>
          </a:prstGeom>
          <a:ln w="25400">
            <a:solidFill>
              <a:srgbClr val="23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857232" y="1965960"/>
            <a:ext cx="2057400" cy="2286000"/>
          </a:xfrm>
          <a:prstGeom prst="roundRect">
            <a:avLst/>
          </a:prstGeom>
          <a:solidFill>
            <a:srgbClr val="101F3B"/>
          </a:solidFill>
          <a:ln>
            <a:solidFill>
              <a:srgbClr val="23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21824" y="219456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23D3EE"/>
                </a:solidFill>
                <a:latin typeface="Aptos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21824" y="2761488"/>
            <a:ext cx="17373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EEF6FF"/>
                </a:solidFill>
                <a:latin typeface="Aptos"/>
              </a:rPr>
              <a:t>VERIFY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21824" y="3218688"/>
            <a:ext cx="173736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A6BBD3"/>
                </a:solidFill>
                <a:latin typeface="Aptos"/>
              </a:rPr>
              <a:t>Refresh state and record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A6BBD3"/>
                </a:solidFill>
                <a:latin typeface="Aptos"/>
              </a:rPr>
              <a:t>the operation result.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97280" y="4892040"/>
            <a:ext cx="9893808" cy="822960"/>
          </a:xfrm>
          <a:prstGeom prst="roundRect">
            <a:avLst/>
          </a:prstGeom>
          <a:solidFill>
            <a:srgbClr val="142B46"/>
          </a:solidFill>
          <a:ln>
            <a:solidFill>
              <a:srgbClr val="FFB9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53312" y="5102352"/>
            <a:ext cx="19202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FB95F"/>
                </a:solidFill>
                <a:latin typeface="Aptos"/>
              </a:rPr>
              <a:t>EXPECTED OUTCOME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46120" y="5074920"/>
            <a:ext cx="740664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EEF6FF"/>
                </a:solidFill>
                <a:latin typeface="Aptos"/>
              </a:rPr>
              <a:t>Every request displays a clear status—including failures and uncertain results.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832336" y="0"/>
            <a:ext cx="91440" cy="6858000"/>
          </a:xfrm>
          <a:prstGeom prst="rect">
            <a:avLst/>
          </a:prstGeom>
          <a:solidFill>
            <a:srgbClr val="142B46"/>
          </a:solidFill>
          <a:ln>
            <a:solidFill>
              <a:srgbClr val="14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77724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DC4AA"/>
                </a:solidFill>
                <a:latin typeface="Aptos"/>
              </a:rPr>
              <a:t>PS-023  •  TRUST &amp;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097280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EEF6FF"/>
                </a:solidFill>
                <a:latin typeface="Aptos Display"/>
              </a:rPr>
              <a:t>Features &amp; Security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16152"/>
            <a:ext cx="1051560" cy="41148"/>
          </a:xfrm>
          <a:prstGeom prst="rect">
            <a:avLst/>
          </a:prstGeom>
          <a:solidFill>
            <a:srgbClr val="23D3EE"/>
          </a:solidFill>
          <a:ln>
            <a:solidFill>
              <a:srgbClr val="23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61320" y="301752"/>
            <a:ext cx="1005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A6BBD3"/>
                </a:solidFill>
                <a:latin typeface="Aptos"/>
              </a:rPr>
              <a:t>08 / 11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473952"/>
            <a:ext cx="11045952" cy="10972"/>
          </a:xfrm>
          <a:prstGeom prst="rect">
            <a:avLst/>
          </a:prstGeom>
          <a:solidFill>
            <a:srgbClr val="2D4D6C"/>
          </a:solidFill>
          <a:ln>
            <a:solidFill>
              <a:srgbClr val="2D4D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" y="6519672"/>
            <a:ext cx="98755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A6BBD3"/>
                </a:solidFill>
                <a:latin typeface="Aptos"/>
              </a:rPr>
              <a:t>PS-023  |  Minimal Two-Node Cloud Hypervisor VM Controller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78440" y="6519672"/>
            <a:ext cx="120700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1" i="0">
                <a:solidFill>
                  <a:srgbClr val="23D3EE"/>
                </a:solidFill>
                <a:latin typeface="Aptos"/>
              </a:rPr>
              <a:t>AIORI-3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481328"/>
            <a:ext cx="5285232" cy="4526280"/>
          </a:xfrm>
          <a:prstGeom prst="roundRect">
            <a:avLst/>
          </a:prstGeom>
          <a:solidFill>
            <a:srgbClr val="101F3B"/>
          </a:solidFill>
          <a:ln>
            <a:solidFill>
              <a:srgbClr val="2D4D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481328"/>
            <a:ext cx="50292" cy="4526280"/>
          </a:xfrm>
          <a:prstGeom prst="rect">
            <a:avLst/>
          </a:prstGeom>
          <a:solidFill>
            <a:srgbClr val="23D3EE"/>
          </a:solidFill>
          <a:ln>
            <a:solidFill>
              <a:srgbClr val="23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618488"/>
            <a:ext cx="4965192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23D3EE"/>
                </a:solidFill>
                <a:latin typeface="Aptos"/>
              </a:rPr>
              <a:t>MAIN FEATURES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2194560"/>
            <a:ext cx="91440" cy="91440"/>
          </a:xfrm>
          <a:prstGeom prst="ellipse">
            <a:avLst/>
          </a:prstGeom>
          <a:solidFill>
            <a:srgbClr val="23D3EE"/>
          </a:solidFill>
          <a:ln>
            <a:solidFill>
              <a:srgbClr val="23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2084831"/>
            <a:ext cx="4462272" cy="3383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EEF6FF"/>
                </a:solidFill>
                <a:latin typeface="Aptos"/>
              </a:rPr>
              <a:t>Centralized node monitoring.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2621787"/>
            <a:ext cx="91440" cy="91440"/>
          </a:xfrm>
          <a:prstGeom prst="ellipse">
            <a:avLst/>
          </a:prstGeom>
          <a:solidFill>
            <a:srgbClr val="23D3EE"/>
          </a:solidFill>
          <a:ln>
            <a:solidFill>
              <a:srgbClr val="23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15568" y="2512059"/>
            <a:ext cx="4462272" cy="3383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EEF6FF"/>
                </a:solidFill>
                <a:latin typeface="Aptos"/>
              </a:rPr>
              <a:t>VM inventory and resource summaries.</a:t>
            </a:r>
          </a:p>
        </p:txBody>
      </p:sp>
      <p:sp>
        <p:nvSpPr>
          <p:cNvPr id="17" name="Oval 16"/>
          <p:cNvSpPr/>
          <p:nvPr/>
        </p:nvSpPr>
        <p:spPr>
          <a:xfrm>
            <a:off x="914400" y="3049016"/>
            <a:ext cx="91440" cy="91440"/>
          </a:xfrm>
          <a:prstGeom prst="ellipse">
            <a:avLst/>
          </a:prstGeom>
          <a:solidFill>
            <a:srgbClr val="23D3EE"/>
          </a:solidFill>
          <a:ln>
            <a:solidFill>
              <a:srgbClr val="23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5568" y="2939288"/>
            <a:ext cx="4462272" cy="3383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EEF6FF"/>
                </a:solidFill>
                <a:latin typeface="Aptos"/>
              </a:rPr>
              <a:t>Resource-aware placement recommendations.</a:t>
            </a:r>
          </a:p>
        </p:txBody>
      </p:sp>
      <p:sp>
        <p:nvSpPr>
          <p:cNvPr id="19" name="Oval 18"/>
          <p:cNvSpPr/>
          <p:nvPr/>
        </p:nvSpPr>
        <p:spPr>
          <a:xfrm>
            <a:off x="914400" y="3476244"/>
            <a:ext cx="91440" cy="91440"/>
          </a:xfrm>
          <a:prstGeom prst="ellipse">
            <a:avLst/>
          </a:prstGeom>
          <a:solidFill>
            <a:srgbClr val="23D3EE"/>
          </a:solidFill>
          <a:ln>
            <a:solidFill>
              <a:srgbClr val="23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15568" y="3366516"/>
            <a:ext cx="4462272" cy="3383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EEF6FF"/>
                </a:solidFill>
                <a:latin typeface="Aptos"/>
              </a:rPr>
              <a:t>VM operation status and history.</a:t>
            </a:r>
          </a:p>
        </p:txBody>
      </p:sp>
      <p:sp>
        <p:nvSpPr>
          <p:cNvPr id="21" name="Oval 20"/>
          <p:cNvSpPr/>
          <p:nvPr/>
        </p:nvSpPr>
        <p:spPr>
          <a:xfrm>
            <a:off x="914400" y="3903472"/>
            <a:ext cx="91440" cy="91440"/>
          </a:xfrm>
          <a:prstGeom prst="ellipse">
            <a:avLst/>
          </a:prstGeom>
          <a:solidFill>
            <a:srgbClr val="23D3EE"/>
          </a:solidFill>
          <a:ln>
            <a:solidFill>
              <a:srgbClr val="23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15568" y="3793744"/>
            <a:ext cx="4462272" cy="3383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EEF6FF"/>
                </a:solidFill>
                <a:latin typeface="Aptos"/>
              </a:rPr>
              <a:t>Error reporting and event logging.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99632" y="1481328"/>
            <a:ext cx="5166360" cy="4526280"/>
          </a:xfrm>
          <a:prstGeom prst="roundRect">
            <a:avLst/>
          </a:prstGeom>
          <a:solidFill>
            <a:srgbClr val="101F3B"/>
          </a:solidFill>
          <a:ln>
            <a:solidFill>
              <a:srgbClr val="2D4D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99632" y="1481328"/>
            <a:ext cx="50292" cy="4526280"/>
          </a:xfrm>
          <a:prstGeom prst="rect">
            <a:avLst/>
          </a:prstGeom>
          <a:solidFill>
            <a:srgbClr val="1DC4AA"/>
          </a:solidFill>
          <a:ln>
            <a:solidFill>
              <a:srgbClr val="1DC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82512" y="1618488"/>
            <a:ext cx="484632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DC4AA"/>
                </a:solidFill>
                <a:latin typeface="Aptos"/>
              </a:rPr>
              <a:t>SECURITY MEASURES</a:t>
            </a:r>
          </a:p>
        </p:txBody>
      </p:sp>
      <p:sp>
        <p:nvSpPr>
          <p:cNvPr id="26" name="Oval 25"/>
          <p:cNvSpPr/>
          <p:nvPr/>
        </p:nvSpPr>
        <p:spPr>
          <a:xfrm>
            <a:off x="6446520" y="2194560"/>
            <a:ext cx="91440" cy="91440"/>
          </a:xfrm>
          <a:prstGeom prst="ellipse">
            <a:avLst/>
          </a:prstGeom>
          <a:solidFill>
            <a:srgbClr val="1DC4AA"/>
          </a:solidFill>
          <a:ln>
            <a:solidFill>
              <a:srgbClr val="1DC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47688" y="2084831"/>
            <a:ext cx="4370832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 i="0">
                <a:solidFill>
                  <a:srgbClr val="EEF6FF"/>
                </a:solidFill>
                <a:latin typeface="Aptos"/>
              </a:rPr>
              <a:t>Keep credentials and secrets out of GitHub.</a:t>
            </a:r>
          </a:p>
        </p:txBody>
      </p:sp>
      <p:sp>
        <p:nvSpPr>
          <p:cNvPr id="28" name="Oval 27"/>
          <p:cNvSpPr/>
          <p:nvPr/>
        </p:nvSpPr>
        <p:spPr>
          <a:xfrm>
            <a:off x="6446520" y="2892552"/>
            <a:ext cx="91440" cy="91440"/>
          </a:xfrm>
          <a:prstGeom prst="ellipse">
            <a:avLst/>
          </a:prstGeom>
          <a:solidFill>
            <a:srgbClr val="1DC4AA"/>
          </a:solidFill>
          <a:ln>
            <a:solidFill>
              <a:srgbClr val="1DC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47688" y="2782823"/>
            <a:ext cx="4370832" cy="3383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 i="0">
                <a:solidFill>
                  <a:srgbClr val="EEF6FF"/>
                </a:solidFill>
                <a:latin typeface="Aptos"/>
              </a:rPr>
              <a:t>Validate all user inputs.</a:t>
            </a:r>
          </a:p>
        </p:txBody>
      </p:sp>
      <p:sp>
        <p:nvSpPr>
          <p:cNvPr id="30" name="Oval 29"/>
          <p:cNvSpPr/>
          <p:nvPr/>
        </p:nvSpPr>
        <p:spPr>
          <a:xfrm>
            <a:off x="6446520" y="3307079"/>
            <a:ext cx="91440" cy="91440"/>
          </a:xfrm>
          <a:prstGeom prst="ellipse">
            <a:avLst/>
          </a:prstGeom>
          <a:solidFill>
            <a:srgbClr val="1DC4AA"/>
          </a:solidFill>
          <a:ln>
            <a:solidFill>
              <a:srgbClr val="1DC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47688" y="3197351"/>
            <a:ext cx="4370832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 i="0">
                <a:solidFill>
                  <a:srgbClr val="EEF6FF"/>
                </a:solidFill>
                <a:latin typeface="Aptos"/>
              </a:rPr>
              <a:t>Allow only explicitly supported VM operations.</a:t>
            </a:r>
          </a:p>
        </p:txBody>
      </p:sp>
      <p:sp>
        <p:nvSpPr>
          <p:cNvPr id="32" name="Oval 31"/>
          <p:cNvSpPr/>
          <p:nvPr/>
        </p:nvSpPr>
        <p:spPr>
          <a:xfrm>
            <a:off x="6446520" y="4005072"/>
            <a:ext cx="91440" cy="91440"/>
          </a:xfrm>
          <a:prstGeom prst="ellipse">
            <a:avLst/>
          </a:prstGeom>
          <a:solidFill>
            <a:srgbClr val="1DC4AA"/>
          </a:solidFill>
          <a:ln>
            <a:solidFill>
              <a:srgbClr val="1DC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47688" y="3895344"/>
            <a:ext cx="4370832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 i="0">
                <a:solidFill>
                  <a:srgbClr val="EEF6FF"/>
                </a:solidFill>
                <a:latin typeface="Aptos"/>
              </a:rPr>
              <a:t>Use role-based access controls where implemented.</a:t>
            </a:r>
          </a:p>
        </p:txBody>
      </p:sp>
      <p:sp>
        <p:nvSpPr>
          <p:cNvPr id="34" name="Oval 33"/>
          <p:cNvSpPr/>
          <p:nvPr/>
        </p:nvSpPr>
        <p:spPr>
          <a:xfrm>
            <a:off x="6446520" y="4703064"/>
            <a:ext cx="91440" cy="91440"/>
          </a:xfrm>
          <a:prstGeom prst="ellipse">
            <a:avLst/>
          </a:prstGeom>
          <a:solidFill>
            <a:srgbClr val="1DC4AA"/>
          </a:solidFill>
          <a:ln>
            <a:solidFill>
              <a:srgbClr val="1DC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47688" y="4593336"/>
            <a:ext cx="4370832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 i="0">
                <a:solidFill>
                  <a:srgbClr val="EEF6FF"/>
                </a:solidFill>
                <a:latin typeface="Aptos"/>
              </a:rPr>
              <a:t>Restrict API access and log administrative actions.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34440" y="5632704"/>
            <a:ext cx="9555480" cy="420624"/>
          </a:xfrm>
          <a:prstGeom prst="roundRect">
            <a:avLst/>
          </a:prstGeom>
          <a:solidFill>
            <a:srgbClr val="142B46"/>
          </a:solidFill>
          <a:ln>
            <a:solidFill>
              <a:srgbClr val="FFB9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417320" y="5742432"/>
            <a:ext cx="91897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B95F"/>
                </a:solidFill>
                <a:latin typeface="Aptos"/>
              </a:rPr>
              <a:t>SAFETY PRINCIPLE  •  Verify the result before reporting an operation as successful.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832336" y="0"/>
            <a:ext cx="91440" cy="6858000"/>
          </a:xfrm>
          <a:prstGeom prst="rect">
            <a:avLst/>
          </a:prstGeom>
          <a:solidFill>
            <a:srgbClr val="142B46"/>
          </a:solidFill>
          <a:ln>
            <a:solidFill>
              <a:srgbClr val="14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77724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DC4AA"/>
                </a:solidFill>
                <a:latin typeface="Aptos"/>
              </a:rPr>
              <a:t>PS-023  •  DELIVERY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097280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EEF6FF"/>
                </a:solidFill>
                <a:latin typeface="Aptos Display"/>
              </a:rPr>
              <a:t>Implementation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16152"/>
            <a:ext cx="1051560" cy="41148"/>
          </a:xfrm>
          <a:prstGeom prst="rect">
            <a:avLst/>
          </a:prstGeom>
          <a:solidFill>
            <a:srgbClr val="23D3EE"/>
          </a:solidFill>
          <a:ln>
            <a:solidFill>
              <a:srgbClr val="23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61320" y="301752"/>
            <a:ext cx="1005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A6BBD3"/>
                </a:solidFill>
                <a:latin typeface="Aptos"/>
              </a:rPr>
              <a:t>09 / 11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473952"/>
            <a:ext cx="11045952" cy="10972"/>
          </a:xfrm>
          <a:prstGeom prst="rect">
            <a:avLst/>
          </a:prstGeom>
          <a:solidFill>
            <a:srgbClr val="2D4D6C"/>
          </a:solidFill>
          <a:ln>
            <a:solidFill>
              <a:srgbClr val="2D4D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" y="6519672"/>
            <a:ext cx="98755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A6BBD3"/>
                </a:solidFill>
                <a:latin typeface="Aptos"/>
              </a:rPr>
              <a:t>PS-023  |  Minimal Two-Node Cloud Hypervisor VM Controller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78440" y="6519672"/>
            <a:ext cx="120700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1" i="0">
                <a:solidFill>
                  <a:srgbClr val="23D3EE"/>
                </a:solidFill>
                <a:latin typeface="Aptos"/>
              </a:rPr>
              <a:t>AIORI-3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1572768"/>
            <a:ext cx="2057400" cy="749808"/>
          </a:xfrm>
          <a:prstGeom prst="roundRect">
            <a:avLst/>
          </a:prstGeom>
          <a:solidFill>
            <a:srgbClr val="142B46"/>
          </a:solidFill>
          <a:ln>
            <a:solidFill>
              <a:srgbClr val="23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1801368"/>
            <a:ext cx="175564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23D3EE"/>
                </a:solidFill>
                <a:latin typeface="Aptos"/>
              </a:rPr>
              <a:t>MILESTONE 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36392" y="1618488"/>
            <a:ext cx="45720" cy="658368"/>
          </a:xfrm>
          <a:prstGeom prst="rect">
            <a:avLst/>
          </a:prstGeom>
          <a:solidFill>
            <a:srgbClr val="23D3EE"/>
          </a:solidFill>
          <a:ln>
            <a:solidFill>
              <a:srgbClr val="23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01568" y="1645920"/>
            <a:ext cx="2834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EEF6FF"/>
                </a:solidFill>
                <a:latin typeface="Aptos"/>
              </a:rPr>
              <a:t>Dashboard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1645920"/>
            <a:ext cx="4983480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A6BBD3"/>
                </a:solidFill>
                <a:latin typeface="Aptos"/>
              </a:rPr>
              <a:t>Build the interface and show representative data for both nodes.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2624328"/>
            <a:ext cx="2057400" cy="749808"/>
          </a:xfrm>
          <a:prstGeom prst="roundRect">
            <a:avLst/>
          </a:prstGeom>
          <a:solidFill>
            <a:srgbClr val="142B46"/>
          </a:solidFill>
          <a:ln>
            <a:solidFill>
              <a:srgbClr val="1DC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2852928"/>
            <a:ext cx="175564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1DC4AA"/>
                </a:solidFill>
                <a:latin typeface="Aptos"/>
              </a:rPr>
              <a:t>MILESTONE 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36392" y="2670048"/>
            <a:ext cx="45720" cy="658368"/>
          </a:xfrm>
          <a:prstGeom prst="rect">
            <a:avLst/>
          </a:prstGeom>
          <a:solidFill>
            <a:srgbClr val="1DC4AA"/>
          </a:solidFill>
          <a:ln>
            <a:solidFill>
              <a:srgbClr val="1DC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01568" y="2697480"/>
            <a:ext cx="2834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EEF6FF"/>
                </a:solidFill>
                <a:latin typeface="Aptos"/>
              </a:rPr>
              <a:t>Controller 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2697480"/>
            <a:ext cx="4983480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A6BBD3"/>
                </a:solidFill>
                <a:latin typeface="Aptos"/>
              </a:rPr>
              <a:t>Implement endpoints, input validation and operation-status handling.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" y="3675887"/>
            <a:ext cx="2057400" cy="749808"/>
          </a:xfrm>
          <a:prstGeom prst="roundRect">
            <a:avLst/>
          </a:prstGeom>
          <a:solidFill>
            <a:srgbClr val="142B46"/>
          </a:solidFill>
          <a:ln>
            <a:solidFill>
              <a:srgbClr val="23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2" y="3904487"/>
            <a:ext cx="175564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23D3EE"/>
                </a:solidFill>
                <a:latin typeface="Aptos"/>
              </a:rPr>
              <a:t>MILESTONE 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36392" y="3721607"/>
            <a:ext cx="45720" cy="658368"/>
          </a:xfrm>
          <a:prstGeom prst="rect">
            <a:avLst/>
          </a:prstGeom>
          <a:solidFill>
            <a:srgbClr val="23D3EE"/>
          </a:solidFill>
          <a:ln>
            <a:solidFill>
              <a:srgbClr val="23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01568" y="3749039"/>
            <a:ext cx="2834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EEF6FF"/>
                </a:solidFill>
                <a:latin typeface="Aptos"/>
              </a:rPr>
              <a:t>Hypervisor integration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3749039"/>
            <a:ext cx="4983480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A6BBD3"/>
                </a:solidFill>
                <a:latin typeface="Aptos"/>
              </a:rPr>
              <a:t>Connect to the supported API, or clearly label a mock adapter.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1248" y="4727448"/>
            <a:ext cx="2057400" cy="749808"/>
          </a:xfrm>
          <a:prstGeom prst="roundRect">
            <a:avLst/>
          </a:prstGeom>
          <a:solidFill>
            <a:srgbClr val="142B46"/>
          </a:solidFill>
          <a:ln>
            <a:solidFill>
              <a:srgbClr val="1DC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7552" y="4956048"/>
            <a:ext cx="175564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1DC4AA"/>
                </a:solidFill>
                <a:latin typeface="Aptos"/>
              </a:rPr>
              <a:t>MILESTONE 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136392" y="4773168"/>
            <a:ext cx="45720" cy="658368"/>
          </a:xfrm>
          <a:prstGeom prst="rect">
            <a:avLst/>
          </a:prstGeom>
          <a:solidFill>
            <a:srgbClr val="1DC4AA"/>
          </a:solidFill>
          <a:ln>
            <a:solidFill>
              <a:srgbClr val="1DC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01568" y="4800600"/>
            <a:ext cx="2834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EEF6FF"/>
                </a:solidFill>
                <a:latin typeface="Aptos"/>
              </a:rPr>
              <a:t>Testing &amp; demo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35040" y="4800600"/>
            <a:ext cx="4983480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A6BBD3"/>
                </a:solidFill>
                <a:latin typeface="Aptos"/>
              </a:rPr>
              <a:t>Test successful operations, invalid requests and unavailable-node scenarios.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879592"/>
            <a:ext cx="104241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1">
                <a:solidFill>
                  <a:srgbClr val="FFB95F"/>
                </a:solidFill>
                <a:latin typeface="Aptos"/>
              </a:rPr>
              <a:t>Build incrementally: demonstrate what is implemented, and label simulated functionality clearly.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832336" y="0"/>
            <a:ext cx="91440" cy="6858000"/>
          </a:xfrm>
          <a:prstGeom prst="rect">
            <a:avLst/>
          </a:prstGeom>
          <a:solidFill>
            <a:srgbClr val="142B46"/>
          </a:solidFill>
          <a:ln>
            <a:solidFill>
              <a:srgbClr val="14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77724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DC4AA"/>
                </a:solidFill>
                <a:latin typeface="Aptos"/>
              </a:rPr>
              <a:t>PS-023  • 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097280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EEF6FF"/>
                </a:solidFill>
                <a:latin typeface="Aptos Display"/>
              </a:rPr>
              <a:t>Testing &amp; Evaluation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16152"/>
            <a:ext cx="1051560" cy="41148"/>
          </a:xfrm>
          <a:prstGeom prst="rect">
            <a:avLst/>
          </a:prstGeom>
          <a:solidFill>
            <a:srgbClr val="23D3EE"/>
          </a:solidFill>
          <a:ln>
            <a:solidFill>
              <a:srgbClr val="23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61320" y="301752"/>
            <a:ext cx="1005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A6BBD3"/>
                </a:solidFill>
                <a:latin typeface="Aptos"/>
              </a:rPr>
              <a:t>10 / 11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473952"/>
            <a:ext cx="11045952" cy="10972"/>
          </a:xfrm>
          <a:prstGeom prst="rect">
            <a:avLst/>
          </a:prstGeom>
          <a:solidFill>
            <a:srgbClr val="2D4D6C"/>
          </a:solidFill>
          <a:ln>
            <a:solidFill>
              <a:srgbClr val="2D4D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" y="6519672"/>
            <a:ext cx="98755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A6BBD3"/>
                </a:solidFill>
                <a:latin typeface="Aptos"/>
              </a:rPr>
              <a:t>PS-023  |  Minimal Two-Node Cloud Hypervisor VM Controller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78440" y="6519672"/>
            <a:ext cx="120700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1" i="0">
                <a:solidFill>
                  <a:srgbClr val="23D3EE"/>
                </a:solidFill>
                <a:latin typeface="Aptos"/>
              </a:rPr>
              <a:t>AIORI-3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481328"/>
            <a:ext cx="5212080" cy="4526280"/>
          </a:xfrm>
          <a:prstGeom prst="roundRect">
            <a:avLst/>
          </a:prstGeom>
          <a:solidFill>
            <a:srgbClr val="101F3B"/>
          </a:solidFill>
          <a:ln>
            <a:solidFill>
              <a:srgbClr val="2D4D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481328"/>
            <a:ext cx="50292" cy="4526280"/>
          </a:xfrm>
          <a:prstGeom prst="rect">
            <a:avLst/>
          </a:prstGeom>
          <a:solidFill>
            <a:srgbClr val="23D3EE"/>
          </a:solidFill>
          <a:ln>
            <a:solidFill>
              <a:srgbClr val="23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618488"/>
            <a:ext cx="489204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23D3EE"/>
                </a:solidFill>
                <a:latin typeface="Aptos"/>
              </a:rPr>
              <a:t>TESTING SCENARIOS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2157984"/>
            <a:ext cx="91440" cy="91440"/>
          </a:xfrm>
          <a:prstGeom prst="ellipse">
            <a:avLst/>
          </a:prstGeom>
          <a:solidFill>
            <a:srgbClr val="23D3EE"/>
          </a:solidFill>
          <a:ln>
            <a:solidFill>
              <a:srgbClr val="23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2048256"/>
            <a:ext cx="4462272" cy="3383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40" b="0" i="0">
                <a:solidFill>
                  <a:srgbClr val="EEF6FF"/>
                </a:solidFill>
                <a:latin typeface="Aptos"/>
              </a:rPr>
              <a:t>Both nodes are reachable.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2559812"/>
            <a:ext cx="91440" cy="91440"/>
          </a:xfrm>
          <a:prstGeom prst="ellipse">
            <a:avLst/>
          </a:prstGeom>
          <a:solidFill>
            <a:srgbClr val="23D3EE"/>
          </a:solidFill>
          <a:ln>
            <a:solidFill>
              <a:srgbClr val="23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15568" y="2450084"/>
            <a:ext cx="4462272" cy="3383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40" b="0" i="0">
                <a:solidFill>
                  <a:srgbClr val="EEF6FF"/>
                </a:solidFill>
                <a:latin typeface="Aptos"/>
              </a:rPr>
              <a:t>One node becomes unavailable.</a:t>
            </a:r>
          </a:p>
        </p:txBody>
      </p:sp>
      <p:sp>
        <p:nvSpPr>
          <p:cNvPr id="17" name="Oval 16"/>
          <p:cNvSpPr/>
          <p:nvPr/>
        </p:nvSpPr>
        <p:spPr>
          <a:xfrm>
            <a:off x="914400" y="2961640"/>
            <a:ext cx="91440" cy="91440"/>
          </a:xfrm>
          <a:prstGeom prst="ellipse">
            <a:avLst/>
          </a:prstGeom>
          <a:solidFill>
            <a:srgbClr val="23D3EE"/>
          </a:solidFill>
          <a:ln>
            <a:solidFill>
              <a:srgbClr val="23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5568" y="2851912"/>
            <a:ext cx="4462272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40" b="0" i="0">
                <a:solidFill>
                  <a:srgbClr val="EEF6FF"/>
                </a:solidFill>
                <a:latin typeface="Aptos"/>
              </a:rPr>
              <a:t>Resource information is missing or outdated.</a:t>
            </a:r>
          </a:p>
        </p:txBody>
      </p:sp>
      <p:sp>
        <p:nvSpPr>
          <p:cNvPr id="19" name="Oval 18"/>
          <p:cNvSpPr/>
          <p:nvPr/>
        </p:nvSpPr>
        <p:spPr>
          <a:xfrm>
            <a:off x="914400" y="3646932"/>
            <a:ext cx="91440" cy="91440"/>
          </a:xfrm>
          <a:prstGeom prst="ellipse">
            <a:avLst/>
          </a:prstGeom>
          <a:solidFill>
            <a:srgbClr val="23D3EE"/>
          </a:solidFill>
          <a:ln>
            <a:solidFill>
              <a:srgbClr val="23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15568" y="3537204"/>
            <a:ext cx="4462272" cy="3383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40" b="0" i="0">
                <a:solidFill>
                  <a:srgbClr val="EEF6FF"/>
                </a:solidFill>
                <a:latin typeface="Aptos"/>
              </a:rPr>
              <a:t>A VM operation succeeds or fails.</a:t>
            </a:r>
          </a:p>
        </p:txBody>
      </p:sp>
      <p:sp>
        <p:nvSpPr>
          <p:cNvPr id="21" name="Oval 20"/>
          <p:cNvSpPr/>
          <p:nvPr/>
        </p:nvSpPr>
        <p:spPr>
          <a:xfrm>
            <a:off x="914400" y="4048760"/>
            <a:ext cx="91440" cy="91440"/>
          </a:xfrm>
          <a:prstGeom prst="ellipse">
            <a:avLst/>
          </a:prstGeom>
          <a:solidFill>
            <a:srgbClr val="23D3EE"/>
          </a:solidFill>
          <a:ln>
            <a:solidFill>
              <a:srgbClr val="23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15568" y="3939032"/>
            <a:ext cx="4462272" cy="3383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40" b="0" i="0">
                <a:solidFill>
                  <a:srgbClr val="EEF6FF"/>
                </a:solidFill>
                <a:latin typeface="Aptos"/>
              </a:rPr>
              <a:t>An API request contains invalid input.</a:t>
            </a:r>
          </a:p>
        </p:txBody>
      </p:sp>
      <p:sp>
        <p:nvSpPr>
          <p:cNvPr id="23" name="Oval 22"/>
          <p:cNvSpPr/>
          <p:nvPr/>
        </p:nvSpPr>
        <p:spPr>
          <a:xfrm>
            <a:off x="914400" y="4450588"/>
            <a:ext cx="91440" cy="91440"/>
          </a:xfrm>
          <a:prstGeom prst="ellipse">
            <a:avLst/>
          </a:prstGeom>
          <a:solidFill>
            <a:srgbClr val="23D3EE"/>
          </a:solidFill>
          <a:ln>
            <a:solidFill>
              <a:srgbClr val="23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15568" y="4340860"/>
            <a:ext cx="4462272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40" b="0" i="0">
                <a:solidFill>
                  <a:srgbClr val="EEF6FF"/>
                </a:solidFill>
                <a:latin typeface="Aptos"/>
              </a:rPr>
              <a:t>The dashboard refreshes after an operation.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44768" y="1481328"/>
            <a:ext cx="5212080" cy="4526280"/>
          </a:xfrm>
          <a:prstGeom prst="roundRect">
            <a:avLst/>
          </a:prstGeom>
          <a:solidFill>
            <a:srgbClr val="101F3B"/>
          </a:solidFill>
          <a:ln>
            <a:solidFill>
              <a:srgbClr val="2D4D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481328"/>
            <a:ext cx="50292" cy="4526280"/>
          </a:xfrm>
          <a:prstGeom prst="rect">
            <a:avLst/>
          </a:prstGeom>
          <a:solidFill>
            <a:srgbClr val="1DC4AA"/>
          </a:solidFill>
          <a:ln>
            <a:solidFill>
              <a:srgbClr val="1DC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27648" y="1618488"/>
            <a:ext cx="489204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DC4AA"/>
                </a:solidFill>
                <a:latin typeface="Aptos"/>
              </a:rPr>
              <a:t>EVALUATION QUESTIONS</a:t>
            </a:r>
          </a:p>
        </p:txBody>
      </p:sp>
      <p:sp>
        <p:nvSpPr>
          <p:cNvPr id="28" name="Oval 27"/>
          <p:cNvSpPr/>
          <p:nvPr/>
        </p:nvSpPr>
        <p:spPr>
          <a:xfrm>
            <a:off x="6400800" y="2157984"/>
            <a:ext cx="91440" cy="91440"/>
          </a:xfrm>
          <a:prstGeom prst="ellipse">
            <a:avLst/>
          </a:prstGeom>
          <a:solidFill>
            <a:srgbClr val="1DC4AA"/>
          </a:solidFill>
          <a:ln>
            <a:solidFill>
              <a:srgbClr val="1DC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01968" y="2048256"/>
            <a:ext cx="4462272" cy="3383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40" b="0" i="0">
                <a:solidFill>
                  <a:srgbClr val="EEF6FF"/>
                </a:solidFill>
                <a:latin typeface="Aptos"/>
              </a:rPr>
              <a:t>Is node and VM status accurate?</a:t>
            </a:r>
          </a:p>
        </p:txBody>
      </p:sp>
      <p:sp>
        <p:nvSpPr>
          <p:cNvPr id="30" name="Oval 29"/>
          <p:cNvSpPr/>
          <p:nvPr/>
        </p:nvSpPr>
        <p:spPr>
          <a:xfrm>
            <a:off x="6400800" y="2585212"/>
            <a:ext cx="91440" cy="91440"/>
          </a:xfrm>
          <a:prstGeom prst="ellipse">
            <a:avLst/>
          </a:prstGeom>
          <a:solidFill>
            <a:srgbClr val="1DC4AA"/>
          </a:solidFill>
          <a:ln>
            <a:solidFill>
              <a:srgbClr val="1DC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01968" y="2475484"/>
            <a:ext cx="4462272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40" b="0" i="0">
                <a:solidFill>
                  <a:srgbClr val="EEF6FF"/>
                </a:solidFill>
                <a:latin typeface="Aptos"/>
              </a:rPr>
              <a:t>Are invalid or disallowed operations rejected?</a:t>
            </a:r>
          </a:p>
        </p:txBody>
      </p:sp>
      <p:sp>
        <p:nvSpPr>
          <p:cNvPr id="32" name="Oval 31"/>
          <p:cNvSpPr/>
          <p:nvPr/>
        </p:nvSpPr>
        <p:spPr>
          <a:xfrm>
            <a:off x="6400800" y="3295904"/>
            <a:ext cx="91440" cy="91440"/>
          </a:xfrm>
          <a:prstGeom prst="ellipse">
            <a:avLst/>
          </a:prstGeom>
          <a:solidFill>
            <a:srgbClr val="1DC4AA"/>
          </a:solidFill>
          <a:ln>
            <a:solidFill>
              <a:srgbClr val="1DC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01968" y="3186176"/>
            <a:ext cx="4462272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40" b="0" i="0">
                <a:solidFill>
                  <a:srgbClr val="EEF6FF"/>
                </a:solidFill>
                <a:latin typeface="Aptos"/>
              </a:rPr>
              <a:t>Does the displayed result match observed state?</a:t>
            </a:r>
          </a:p>
        </p:txBody>
      </p:sp>
      <p:sp>
        <p:nvSpPr>
          <p:cNvPr id="34" name="Oval 33"/>
          <p:cNvSpPr/>
          <p:nvPr/>
        </p:nvSpPr>
        <p:spPr>
          <a:xfrm>
            <a:off x="6400800" y="4006596"/>
            <a:ext cx="91440" cy="91440"/>
          </a:xfrm>
          <a:prstGeom prst="ellipse">
            <a:avLst/>
          </a:prstGeom>
          <a:solidFill>
            <a:srgbClr val="1DC4AA"/>
          </a:solidFill>
          <a:ln>
            <a:solidFill>
              <a:srgbClr val="1DC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01968" y="3896868"/>
            <a:ext cx="4462272" cy="3383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40" b="0" i="0">
                <a:solidFill>
                  <a:srgbClr val="EEF6FF"/>
                </a:solidFill>
                <a:latin typeface="Aptos"/>
              </a:rPr>
              <a:t>Are important events recorded?</a:t>
            </a:r>
          </a:p>
        </p:txBody>
      </p:sp>
      <p:sp>
        <p:nvSpPr>
          <p:cNvPr id="36" name="Oval 35"/>
          <p:cNvSpPr/>
          <p:nvPr/>
        </p:nvSpPr>
        <p:spPr>
          <a:xfrm>
            <a:off x="6400800" y="4433824"/>
            <a:ext cx="91440" cy="91440"/>
          </a:xfrm>
          <a:prstGeom prst="ellipse">
            <a:avLst/>
          </a:prstGeom>
          <a:solidFill>
            <a:srgbClr val="1DC4AA"/>
          </a:solidFill>
          <a:ln>
            <a:solidFill>
              <a:srgbClr val="1DC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01968" y="4324096"/>
            <a:ext cx="4462272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40" b="0" i="0">
                <a:solidFill>
                  <a:srgbClr val="EEF6FF"/>
                </a:solidFill>
                <a:latin typeface="Aptos"/>
              </a:rPr>
              <a:t>Can the team demonstrate the workflow reliably?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6080760"/>
            <a:ext cx="106070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FFB95F"/>
                </a:solidFill>
                <a:latin typeface="Aptos"/>
              </a:rPr>
              <a:t>Report actual results only after running tests; do not present proposed targets as achieved results.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832336" y="0"/>
            <a:ext cx="91440" cy="6858000"/>
          </a:xfrm>
          <a:prstGeom prst="rect">
            <a:avLst/>
          </a:prstGeom>
          <a:solidFill>
            <a:srgbClr val="142B46"/>
          </a:solidFill>
          <a:ln>
            <a:solidFill>
              <a:srgbClr val="14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77724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DC4AA"/>
                </a:solidFill>
                <a:latin typeface="Aptos"/>
              </a:rPr>
              <a:t>PS-023  •  PRESENTATION CLOSE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097280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EEF6FF"/>
                </a:solidFill>
                <a:latin typeface="Aptos Display"/>
              </a:rPr>
              <a:t>Team, Expected Impact &amp; Demo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16152"/>
            <a:ext cx="1051560" cy="41148"/>
          </a:xfrm>
          <a:prstGeom prst="rect">
            <a:avLst/>
          </a:prstGeom>
          <a:solidFill>
            <a:srgbClr val="23D3EE"/>
          </a:solidFill>
          <a:ln>
            <a:solidFill>
              <a:srgbClr val="23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61320" y="301752"/>
            <a:ext cx="1005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A6BBD3"/>
                </a:solidFill>
                <a:latin typeface="Aptos"/>
              </a:rPr>
              <a:t>11 / 11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473952"/>
            <a:ext cx="11045952" cy="10972"/>
          </a:xfrm>
          <a:prstGeom prst="rect">
            <a:avLst/>
          </a:prstGeom>
          <a:solidFill>
            <a:srgbClr val="2D4D6C"/>
          </a:solidFill>
          <a:ln>
            <a:solidFill>
              <a:srgbClr val="2D4D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" y="6519672"/>
            <a:ext cx="98755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A6BBD3"/>
                </a:solidFill>
                <a:latin typeface="Aptos"/>
              </a:rPr>
              <a:t>PS-023  |  Minimal Two-Node Cloud Hypervisor VM Controller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78440" y="6519672"/>
            <a:ext cx="120700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1" i="0">
                <a:solidFill>
                  <a:srgbClr val="23D3EE"/>
                </a:solidFill>
                <a:latin typeface="Aptos"/>
              </a:rPr>
              <a:t>AIORI-3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481328"/>
            <a:ext cx="3017520" cy="1920240"/>
          </a:xfrm>
          <a:prstGeom prst="roundRect">
            <a:avLst/>
          </a:prstGeom>
          <a:solidFill>
            <a:srgbClr val="101F3B"/>
          </a:solidFill>
          <a:ln>
            <a:solidFill>
              <a:srgbClr val="2D4D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481328"/>
            <a:ext cx="50292" cy="1920240"/>
          </a:xfrm>
          <a:prstGeom prst="rect">
            <a:avLst/>
          </a:prstGeom>
          <a:solidFill>
            <a:srgbClr val="23D3EE"/>
          </a:solidFill>
          <a:ln>
            <a:solidFill>
              <a:srgbClr val="23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618488"/>
            <a:ext cx="2697479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23D3EE"/>
                </a:solidFill>
                <a:latin typeface="Aptos"/>
              </a:rPr>
              <a:t>TEAM DEBUG CREW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2148840"/>
            <a:ext cx="2468880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EEF6FF"/>
                </a:solidFill>
                <a:latin typeface="Aptos"/>
              </a:rPr>
              <a:t>Sneha Singh</a:t>
            </a:r>
          </a:p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EEF6FF"/>
                </a:solidFill>
                <a:latin typeface="Aptos"/>
              </a:rPr>
              <a:t>Tannu Priya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926080"/>
            <a:ext cx="25146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A6BBD3"/>
                </a:solidFill>
                <a:latin typeface="Aptos"/>
              </a:rPr>
              <a:t>Responsibilities: add after confirming actual work division.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13632" y="1481328"/>
            <a:ext cx="3291840" cy="1920240"/>
          </a:xfrm>
          <a:prstGeom prst="roundRect">
            <a:avLst/>
          </a:prstGeom>
          <a:solidFill>
            <a:srgbClr val="101F3B"/>
          </a:solidFill>
          <a:ln>
            <a:solidFill>
              <a:srgbClr val="2D4D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913632" y="1481328"/>
            <a:ext cx="50292" cy="1920240"/>
          </a:xfrm>
          <a:prstGeom prst="rect">
            <a:avLst/>
          </a:prstGeom>
          <a:solidFill>
            <a:srgbClr val="1DC4AA"/>
          </a:solidFill>
          <a:ln>
            <a:solidFill>
              <a:srgbClr val="1DC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96512" y="1618488"/>
            <a:ext cx="297180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DC4AA"/>
                </a:solidFill>
                <a:latin typeface="Aptos"/>
              </a:rPr>
              <a:t>EXPECTED IMPACT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20" y="2103120"/>
            <a:ext cx="2788920" cy="10972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EEF6FF"/>
                </a:solidFill>
                <a:latin typeface="Aptos"/>
              </a:rPr>
              <a:t>• Easier monitoring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EEF6FF"/>
                </a:solidFill>
                <a:latin typeface="Aptos"/>
              </a:rPr>
              <a:t>• Clearer placement decisions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EEF6FF"/>
                </a:solidFill>
                <a:latin typeface="Aptos"/>
              </a:rPr>
              <a:t>• Consistent supported operations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EEF6FF"/>
                </a:solidFill>
                <a:latin typeface="Aptos"/>
              </a:rPr>
              <a:t>• Better error visibility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43216" y="1481328"/>
            <a:ext cx="3913632" cy="3977639"/>
          </a:xfrm>
          <a:prstGeom prst="roundRect">
            <a:avLst/>
          </a:prstGeom>
          <a:solidFill>
            <a:srgbClr val="101F3B"/>
          </a:solidFill>
          <a:ln>
            <a:solidFill>
              <a:srgbClr val="2D4D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43216" y="1481328"/>
            <a:ext cx="50292" cy="3977639"/>
          </a:xfrm>
          <a:prstGeom prst="rect">
            <a:avLst/>
          </a:prstGeom>
          <a:solidFill>
            <a:srgbClr val="23D3EE"/>
          </a:solidFill>
          <a:ln>
            <a:solidFill>
              <a:srgbClr val="23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26096" y="1618488"/>
            <a:ext cx="3593592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23D3EE"/>
                </a:solidFill>
                <a:latin typeface="Aptos"/>
              </a:rPr>
              <a:t>DEMO WALKTHROUGH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99248" y="2075688"/>
            <a:ext cx="3383280" cy="31546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EEF6FF"/>
                </a:solidFill>
                <a:latin typeface="Aptos"/>
              </a:rPr>
              <a:t>01  Introduce PS-023 and the problem</a:t>
            </a: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EEF6FF"/>
                </a:solidFill>
                <a:latin typeface="Aptos"/>
              </a:rPr>
              <a:t>02  Show both nodes on the dashboard</a:t>
            </a: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EEF6FF"/>
                </a:solidFill>
                <a:latin typeface="Aptos"/>
              </a:rPr>
              <a:t>03  Display VM inventory and resources</a:t>
            </a: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EEF6FF"/>
                </a:solidFill>
                <a:latin typeface="Aptos"/>
              </a:rPr>
              <a:t>04  Run one validated VM workflow</a:t>
            </a: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EEF6FF"/>
                </a:solidFill>
                <a:latin typeface="Aptos"/>
              </a:rPr>
              <a:t>05  Show result and event history</a:t>
            </a: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EEF6FF"/>
                </a:solidFill>
                <a:latin typeface="Aptos"/>
              </a:rPr>
              <a:t>06  Explain limitations and next steps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" y="3749039"/>
            <a:ext cx="6419088" cy="1719072"/>
          </a:xfrm>
          <a:prstGeom prst="roundRect">
            <a:avLst/>
          </a:prstGeom>
          <a:solidFill>
            <a:srgbClr val="142B46"/>
          </a:solidFill>
          <a:ln>
            <a:solidFill>
              <a:srgbClr val="2D4D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7552" y="3986784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DC4AA"/>
                </a:solidFill>
                <a:latin typeface="Aptos"/>
              </a:rPr>
              <a:t>CLOSING STATEMENT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" y="4370832"/>
            <a:ext cx="585216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EEF6FF"/>
                </a:solidFill>
                <a:latin typeface="Aptos"/>
              </a:rPr>
              <a:t>“Our goal is to make two-node virtual machine management simpler, more transparent and easier to monitor through a lightweight centralized controller.”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" y="5925312"/>
            <a:ext cx="103327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FFB95F"/>
                </a:solidFill>
                <a:latin typeface="Aptos"/>
              </a:rPr>
              <a:t>Before submission: update the deck to match what the team has actually implemented and tested.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